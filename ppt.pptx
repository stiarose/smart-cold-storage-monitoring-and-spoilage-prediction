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senal" panose="020B0604020202020204" charset="0"/>
      <p:regular r:id="rId22"/>
    </p:embeddedFont>
    <p:embeddedFont>
      <p:font typeface="Calibri (MS)" panose="020B0604020202020204" charset="0"/>
      <p:regular r:id="rId23"/>
    </p:embeddedFont>
    <p:embeddedFont>
      <p:font typeface="Calibri (MS) Bold" panose="020B0604020202020204" charset="0"/>
      <p:regular r:id="rId24"/>
    </p:embeddedFont>
    <p:embeddedFont>
      <p:font typeface="Radley" panose="020B0604020202020204" charset="0"/>
      <p:regular r:id="rId25"/>
    </p:embeddedFont>
    <p:embeddedFont>
      <p:font typeface="TT Rounds Condensed" panose="020B0604020202020204" charset="0"/>
      <p:regular r:id="rId26"/>
    </p:embeddedFont>
    <p:embeddedFont>
      <p:font typeface="TT Rounds Condensed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1094949" y="2700942"/>
            <a:ext cx="7632583" cy="8489922"/>
            <a:chOff x="687070" y="247650"/>
            <a:chExt cx="11148060" cy="12400280"/>
          </a:xfrm>
        </p:grpSpPr>
        <p:sp>
          <p:nvSpPr>
            <p:cNvPr id="3" name="Freeform 3"/>
            <p:cNvSpPr/>
            <p:nvPr/>
          </p:nvSpPr>
          <p:spPr>
            <a:xfrm>
              <a:off x="366333" y="5962"/>
              <a:ext cx="10331959" cy="12110687"/>
            </a:xfrm>
            <a:custGeom>
              <a:avLst/>
              <a:gdLst/>
              <a:ahLst/>
              <a:cxnLst/>
              <a:rect l="l" t="t" r="r" b="b"/>
              <a:pathLst>
                <a:path w="10331959" h="12110687">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blipFill>
              <a:blip r:embed="rId2"/>
              <a:stretch>
                <a:fillRect l="-19411" r="-19411"/>
              </a:stretch>
            </a:blipFill>
          </p:spPr>
        </p:sp>
      </p:grpSp>
      <p:grpSp>
        <p:nvGrpSpPr>
          <p:cNvPr id="4" name="Group 4"/>
          <p:cNvGrpSpPr/>
          <p:nvPr/>
        </p:nvGrpSpPr>
        <p:grpSpPr>
          <a:xfrm>
            <a:off x="0" y="341974"/>
            <a:ext cx="17783359" cy="7363058"/>
            <a:chOff x="0" y="0"/>
            <a:chExt cx="23711145" cy="9817410"/>
          </a:xfrm>
        </p:grpSpPr>
        <p:sp>
          <p:nvSpPr>
            <p:cNvPr id="5" name="TextBox 5"/>
            <p:cNvSpPr txBox="1"/>
            <p:nvPr/>
          </p:nvSpPr>
          <p:spPr>
            <a:xfrm>
              <a:off x="0" y="76200"/>
              <a:ext cx="23711145" cy="4635322"/>
            </a:xfrm>
            <a:prstGeom prst="rect">
              <a:avLst/>
            </a:prstGeom>
          </p:spPr>
          <p:txBody>
            <a:bodyPr lIns="0" tIns="0" rIns="0" bIns="0" rtlCol="0" anchor="t">
              <a:spAutoFit/>
            </a:bodyPr>
            <a:lstStyle/>
            <a:p>
              <a:pPr marL="0" lvl="0" indent="0" algn="ctr">
                <a:lnSpc>
                  <a:spcPts val="9063"/>
                </a:lnSpc>
              </a:pPr>
              <a:r>
                <a:rPr lang="en-US" sz="8239">
                  <a:solidFill>
                    <a:srgbClr val="F3F6FA"/>
                  </a:solidFill>
                  <a:latin typeface="Radley"/>
                  <a:ea typeface="Radley"/>
                  <a:cs typeface="Radley"/>
                  <a:sym typeface="Radley"/>
                </a:rPr>
                <a:t>SMART COLD STORAGE MONITORING AND SPOILAGE PREDICTION</a:t>
              </a:r>
            </a:p>
          </p:txBody>
        </p:sp>
        <p:sp>
          <p:nvSpPr>
            <p:cNvPr id="6" name="TextBox 6"/>
            <p:cNvSpPr txBox="1"/>
            <p:nvPr/>
          </p:nvSpPr>
          <p:spPr>
            <a:xfrm>
              <a:off x="8435021" y="9501991"/>
              <a:ext cx="15276125" cy="315419"/>
            </a:xfrm>
            <a:prstGeom prst="rect">
              <a:avLst/>
            </a:prstGeom>
          </p:spPr>
          <p:txBody>
            <a:bodyPr lIns="0" tIns="0" rIns="0" bIns="0" rtlCol="0" anchor="t">
              <a:spAutoFit/>
            </a:bodyPr>
            <a:lstStyle/>
            <a:p>
              <a:pPr marL="0" lvl="0" indent="0" algn="l">
                <a:lnSpc>
                  <a:spcPts val="1904"/>
                </a:lnSpc>
              </a:pPr>
              <a:endParaRPr/>
            </a:p>
          </p:txBody>
        </p:sp>
      </p:grpSp>
      <p:sp>
        <p:nvSpPr>
          <p:cNvPr id="7" name="TextBox 7"/>
          <p:cNvSpPr txBox="1"/>
          <p:nvPr/>
        </p:nvSpPr>
        <p:spPr>
          <a:xfrm>
            <a:off x="0" y="5937130"/>
            <a:ext cx="5999561" cy="3780362"/>
          </a:xfrm>
          <a:prstGeom prst="rect">
            <a:avLst/>
          </a:prstGeom>
        </p:spPr>
        <p:txBody>
          <a:bodyPr lIns="0" tIns="0" rIns="0" bIns="0" rtlCol="0" anchor="t">
            <a:spAutoFit/>
          </a:bodyPr>
          <a:lstStyle/>
          <a:p>
            <a:pPr algn="ctr">
              <a:lnSpc>
                <a:spcPts val="4258"/>
              </a:lnSpc>
              <a:spcBef>
                <a:spcPct val="0"/>
              </a:spcBef>
            </a:pPr>
            <a:r>
              <a:rPr lang="en-US" sz="3041" b="1">
                <a:solidFill>
                  <a:srgbClr val="F3F6FA"/>
                </a:solidFill>
                <a:latin typeface="Calibri (MS) Bold"/>
                <a:ea typeface="Calibri (MS) Bold"/>
                <a:cs typeface="Calibri (MS) Bold"/>
                <a:sym typeface="Calibri (MS) Bold"/>
              </a:rPr>
              <a:t>TEAM 9</a:t>
            </a:r>
          </a:p>
          <a:p>
            <a:pPr algn="ctr">
              <a:lnSpc>
                <a:spcPts val="4258"/>
              </a:lnSpc>
              <a:spcBef>
                <a:spcPct val="0"/>
              </a:spcBef>
            </a:pPr>
            <a:r>
              <a:rPr lang="en-US" sz="3041">
                <a:solidFill>
                  <a:srgbClr val="F3F6FA"/>
                </a:solidFill>
                <a:latin typeface="Calibri (MS)"/>
                <a:ea typeface="Calibri (MS)"/>
                <a:cs typeface="Calibri (MS)"/>
                <a:sym typeface="Calibri (MS)"/>
              </a:rPr>
              <a:t>Members:</a:t>
            </a:r>
          </a:p>
          <a:p>
            <a:pPr algn="ctr">
              <a:lnSpc>
                <a:spcPts val="4258"/>
              </a:lnSpc>
              <a:spcBef>
                <a:spcPct val="0"/>
              </a:spcBef>
            </a:pPr>
            <a:r>
              <a:rPr lang="en-US" sz="3041">
                <a:solidFill>
                  <a:srgbClr val="F3F6FA"/>
                </a:solidFill>
                <a:latin typeface="Calibri (MS)"/>
                <a:ea typeface="Calibri (MS)"/>
                <a:cs typeface="Calibri (MS)"/>
                <a:sym typeface="Calibri (MS)"/>
              </a:rPr>
              <a:t>Rahul S 2362355</a:t>
            </a:r>
            <a:r>
              <a:rPr lang="en-US" sz="3041" b="1">
                <a:solidFill>
                  <a:srgbClr val="F3F6FA"/>
                </a:solidFill>
                <a:latin typeface="Calibri (MS) Bold"/>
                <a:ea typeface="Calibri (MS) Bold"/>
                <a:cs typeface="Calibri (MS) Bold"/>
                <a:sym typeface="Calibri (MS) Bold"/>
              </a:rPr>
              <a:t> </a:t>
            </a:r>
          </a:p>
          <a:p>
            <a:pPr algn="ctr">
              <a:lnSpc>
                <a:spcPts val="4258"/>
              </a:lnSpc>
              <a:spcBef>
                <a:spcPct val="0"/>
              </a:spcBef>
            </a:pPr>
            <a:r>
              <a:rPr lang="en-US" sz="3041">
                <a:solidFill>
                  <a:srgbClr val="F3F6FA"/>
                </a:solidFill>
                <a:latin typeface="Calibri (MS)"/>
                <a:ea typeface="Calibri (MS)"/>
                <a:cs typeface="Calibri (MS)"/>
                <a:sym typeface="Calibri (MS)"/>
              </a:rPr>
              <a:t>Elna Benny 2360366</a:t>
            </a:r>
          </a:p>
          <a:p>
            <a:pPr algn="ctr">
              <a:lnSpc>
                <a:spcPts val="4258"/>
              </a:lnSpc>
              <a:spcBef>
                <a:spcPct val="0"/>
              </a:spcBef>
            </a:pPr>
            <a:r>
              <a:rPr lang="en-US" sz="3041">
                <a:solidFill>
                  <a:srgbClr val="F3F6FA"/>
                </a:solidFill>
                <a:latin typeface="Calibri (MS)"/>
                <a:ea typeface="Calibri (MS)"/>
                <a:cs typeface="Calibri (MS)"/>
                <a:sym typeface="Calibri (MS)"/>
              </a:rPr>
              <a:t>Stia Rose 2362370</a:t>
            </a:r>
          </a:p>
          <a:p>
            <a:pPr algn="ctr">
              <a:lnSpc>
                <a:spcPts val="4258"/>
              </a:lnSpc>
              <a:spcBef>
                <a:spcPct val="0"/>
              </a:spcBef>
            </a:pPr>
            <a:r>
              <a:rPr lang="en-US" sz="3041">
                <a:solidFill>
                  <a:srgbClr val="F3F6FA"/>
                </a:solidFill>
                <a:latin typeface="Calibri (MS)"/>
                <a:ea typeface="Calibri (MS)"/>
                <a:cs typeface="Calibri (MS)"/>
                <a:sym typeface="Calibri (MS)"/>
              </a:rPr>
              <a:t>Shyam Suresh 2362338</a:t>
            </a:r>
          </a:p>
          <a:p>
            <a:pPr algn="ctr">
              <a:lnSpc>
                <a:spcPts val="4258"/>
              </a:lnSpc>
              <a:spcBef>
                <a:spcPct val="0"/>
              </a:spcBef>
            </a:pPr>
            <a:endParaRPr lang="en-US" sz="3041">
              <a:solidFill>
                <a:srgbClr val="F3F6FA"/>
              </a:solidFill>
              <a:latin typeface="Calibri (MS)"/>
              <a:ea typeface="Calibri (MS)"/>
              <a:cs typeface="Calibri (MS)"/>
              <a:sym typeface="Calibri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9256123" y="1442576"/>
            <a:ext cx="8384422" cy="7140592"/>
            <a:chOff x="0" y="0"/>
            <a:chExt cx="11179230" cy="9520789"/>
          </a:xfrm>
        </p:grpSpPr>
        <p:sp>
          <p:nvSpPr>
            <p:cNvPr id="3" name="TextBox 3"/>
            <p:cNvSpPr txBox="1"/>
            <p:nvPr/>
          </p:nvSpPr>
          <p:spPr>
            <a:xfrm>
              <a:off x="161667" y="0"/>
              <a:ext cx="10356836" cy="2895600"/>
            </a:xfrm>
            <a:prstGeom prst="rect">
              <a:avLst/>
            </a:prstGeom>
          </p:spPr>
          <p:txBody>
            <a:bodyPr lIns="0" tIns="0" rIns="0" bIns="0" rtlCol="0" anchor="t">
              <a:spAutoFit/>
            </a:bodyPr>
            <a:lstStyle/>
            <a:p>
              <a:pPr marL="0" lvl="0" indent="0" algn="l">
                <a:lnSpc>
                  <a:spcPts val="8593"/>
                </a:lnSpc>
              </a:pPr>
              <a:r>
                <a:rPr lang="en-US" sz="7161" b="1" spc="-43">
                  <a:solidFill>
                    <a:srgbClr val="F3F6FA"/>
                  </a:solidFill>
                  <a:latin typeface="TT Rounds Condensed Bold"/>
                  <a:ea typeface="TT Rounds Condensed Bold"/>
                  <a:cs typeface="TT Rounds Condensed Bold"/>
                  <a:sym typeface="TT Rounds Condensed Bold"/>
                </a:rPr>
                <a:t>PROBLEM STATEMENT</a:t>
              </a:r>
            </a:p>
          </p:txBody>
        </p:sp>
        <p:sp>
          <p:nvSpPr>
            <p:cNvPr id="4" name="TextBox 4"/>
            <p:cNvSpPr txBox="1"/>
            <p:nvPr/>
          </p:nvSpPr>
          <p:spPr>
            <a:xfrm>
              <a:off x="161667" y="3767189"/>
              <a:ext cx="10356836" cy="5753600"/>
            </a:xfrm>
            <a:prstGeom prst="rect">
              <a:avLst/>
            </a:prstGeom>
          </p:spPr>
          <p:txBody>
            <a:bodyPr lIns="0" tIns="0" rIns="0" bIns="0" rtlCol="0" anchor="t">
              <a:spAutoFit/>
            </a:bodyPr>
            <a:lstStyle/>
            <a:p>
              <a:pPr marL="519881" lvl="1" indent="-259941" algn="l">
                <a:lnSpc>
                  <a:spcPts val="3130"/>
                </a:lnSpc>
                <a:buFont typeface="Arial"/>
                <a:buChar char="•"/>
              </a:pPr>
              <a:r>
                <a:rPr lang="en-US" sz="2407">
                  <a:solidFill>
                    <a:srgbClr val="F3F6FA"/>
                  </a:solidFill>
                  <a:latin typeface="Calibri (MS)"/>
                  <a:ea typeface="Calibri (MS)"/>
                  <a:cs typeface="Calibri (MS)"/>
                  <a:sym typeface="Calibri (MS)"/>
                </a:rPr>
                <a:t>Cold storage systems often face fluctuations in temperature, humidity, and gas levels due to environmental changes and operational factors, leading to unnoticed spoilage of perishable goods. Traditional monitoring methods lack real-time tracking, gas detection, and predictive capabilities.</a:t>
              </a:r>
            </a:p>
            <a:p>
              <a:pPr marL="519881" lvl="1" indent="-259941" algn="l">
                <a:lnSpc>
                  <a:spcPts val="3130"/>
                </a:lnSpc>
                <a:buFont typeface="Arial"/>
                <a:buChar char="•"/>
              </a:pPr>
              <a:r>
                <a:rPr lang="en-US" sz="2407">
                  <a:solidFill>
                    <a:srgbClr val="F3F6FA"/>
                  </a:solidFill>
                  <a:latin typeface="Calibri (MS)"/>
                  <a:ea typeface="Calibri (MS)"/>
                  <a:cs typeface="Calibri (MS)"/>
                  <a:sym typeface="Calibri (MS)"/>
                </a:rPr>
                <a:t>There is a need for a smart IoT and AI-based system that uses temperature, humidity, and gas sensors to continuously monitor conditions, detect early signs of spoilage, and provide real-time alerts to reduce losses and ensure product quality.</a:t>
              </a:r>
            </a:p>
          </p:txBody>
        </p:sp>
        <p:sp>
          <p:nvSpPr>
            <p:cNvPr id="5" name="AutoShape 5"/>
            <p:cNvSpPr/>
            <p:nvPr/>
          </p:nvSpPr>
          <p:spPr>
            <a:xfrm>
              <a:off x="0" y="3316653"/>
              <a:ext cx="11179230" cy="0"/>
            </a:xfrm>
            <a:prstGeom prst="line">
              <a:avLst/>
            </a:prstGeom>
            <a:ln w="139700" cap="flat">
              <a:solidFill>
                <a:srgbClr val="F3F6FA"/>
              </a:solidFill>
              <a:prstDash val="solid"/>
              <a:headEnd type="none" w="sm" len="sm"/>
              <a:tailEnd type="none" w="sm" len="sm"/>
            </a:ln>
          </p:spPr>
        </p:sp>
      </p:grpSp>
      <p:sp>
        <p:nvSpPr>
          <p:cNvPr id="6" name="Freeform 6"/>
          <p:cNvSpPr/>
          <p:nvPr/>
        </p:nvSpPr>
        <p:spPr>
          <a:xfrm>
            <a:off x="1419380" y="1208278"/>
            <a:ext cx="6106281" cy="8050022"/>
          </a:xfrm>
          <a:custGeom>
            <a:avLst/>
            <a:gdLst/>
            <a:ahLst/>
            <a:cxnLst/>
            <a:rect l="l" t="t" r="r" b="b"/>
            <a:pathLst>
              <a:path w="6106281" h="8050022">
                <a:moveTo>
                  <a:pt x="0" y="0"/>
                </a:moveTo>
                <a:lnTo>
                  <a:pt x="6106281" y="0"/>
                </a:lnTo>
                <a:lnTo>
                  <a:pt x="6106281" y="8050022"/>
                </a:lnTo>
                <a:lnTo>
                  <a:pt x="0" y="8050022"/>
                </a:lnTo>
                <a:lnTo>
                  <a:pt x="0" y="0"/>
                </a:lnTo>
                <a:close/>
              </a:path>
            </a:pathLst>
          </a:custGeom>
          <a:blipFill>
            <a:blip r:embed="rId2"/>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Freeform 2"/>
          <p:cNvSpPr/>
          <p:nvPr/>
        </p:nvSpPr>
        <p:spPr>
          <a:xfrm>
            <a:off x="1227804" y="2286486"/>
            <a:ext cx="14568045" cy="7390269"/>
          </a:xfrm>
          <a:custGeom>
            <a:avLst/>
            <a:gdLst/>
            <a:ahLst/>
            <a:cxnLst/>
            <a:rect l="l" t="t" r="r" b="b"/>
            <a:pathLst>
              <a:path w="14568045" h="7390269">
                <a:moveTo>
                  <a:pt x="0" y="0"/>
                </a:moveTo>
                <a:lnTo>
                  <a:pt x="14568046" y="0"/>
                </a:lnTo>
                <a:lnTo>
                  <a:pt x="14568046" y="7390268"/>
                </a:lnTo>
                <a:lnTo>
                  <a:pt x="0" y="7390268"/>
                </a:lnTo>
                <a:lnTo>
                  <a:pt x="0" y="0"/>
                </a:lnTo>
                <a:close/>
              </a:path>
            </a:pathLst>
          </a:custGeom>
          <a:blipFill>
            <a:blip r:embed="rId2"/>
            <a:stretch>
              <a:fillRect t="-15667" b="-15667"/>
            </a:stretch>
          </a:blipFill>
        </p:spPr>
      </p:sp>
      <p:grpSp>
        <p:nvGrpSpPr>
          <p:cNvPr id="3" name="Group 3"/>
          <p:cNvGrpSpPr/>
          <p:nvPr/>
        </p:nvGrpSpPr>
        <p:grpSpPr>
          <a:xfrm>
            <a:off x="881214" y="298141"/>
            <a:ext cx="16879535" cy="1988345"/>
            <a:chOff x="0" y="0"/>
            <a:chExt cx="22506046" cy="2651126"/>
          </a:xfrm>
        </p:grpSpPr>
        <p:sp>
          <p:nvSpPr>
            <p:cNvPr id="4" name="Freeform 4"/>
            <p:cNvSpPr/>
            <p:nvPr/>
          </p:nvSpPr>
          <p:spPr>
            <a:xfrm>
              <a:off x="0" y="0"/>
              <a:ext cx="22506046" cy="2651127"/>
            </a:xfrm>
            <a:custGeom>
              <a:avLst/>
              <a:gdLst/>
              <a:ahLst/>
              <a:cxnLst/>
              <a:rect l="l" t="t" r="r" b="b"/>
              <a:pathLst>
                <a:path w="22506046" h="2651127">
                  <a:moveTo>
                    <a:pt x="0" y="0"/>
                  </a:moveTo>
                  <a:lnTo>
                    <a:pt x="22506046" y="0"/>
                  </a:lnTo>
                  <a:lnTo>
                    <a:pt x="22506046" y="2651127"/>
                  </a:lnTo>
                  <a:lnTo>
                    <a:pt x="0" y="2651127"/>
                  </a:lnTo>
                  <a:close/>
                </a:path>
              </a:pathLst>
            </a:custGeom>
            <a:blipFill>
              <a:blip r:embed="rId3">
                <a:alphaModFix amt="0"/>
              </a:blip>
              <a:stretch>
                <a:fillRect t="-104573" r="6553" b="-104573"/>
              </a:stretch>
            </a:blipFill>
          </p:spPr>
        </p:sp>
        <p:sp>
          <p:nvSpPr>
            <p:cNvPr id="5" name="TextBox 5"/>
            <p:cNvSpPr txBox="1"/>
            <p:nvPr/>
          </p:nvSpPr>
          <p:spPr>
            <a:xfrm>
              <a:off x="0" y="66675"/>
              <a:ext cx="22506046" cy="2584451"/>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VACCINE STORAGE DURING COVID - 19 IN INDIA</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7"/>
            </a:xfrm>
            <a:custGeom>
              <a:avLst/>
              <a:gdLst/>
              <a:ahLst/>
              <a:cxnLst/>
              <a:rect l="l" t="t" r="r" b="b"/>
              <a:pathLst>
                <a:path w="21031200" h="2651127">
                  <a:moveTo>
                    <a:pt x="0" y="0"/>
                  </a:moveTo>
                  <a:lnTo>
                    <a:pt x="21031200" y="0"/>
                  </a:lnTo>
                  <a:lnTo>
                    <a:pt x="21031200" y="2651127"/>
                  </a:lnTo>
                  <a:lnTo>
                    <a:pt x="0" y="2651127"/>
                  </a:lnTo>
                  <a:close/>
                </a:path>
              </a:pathLst>
            </a:custGeom>
            <a:blipFill>
              <a:blip r:embed="rId2">
                <a:alphaModFix amt="0"/>
              </a:blip>
              <a:stretch>
                <a:fillRect t="-104573" b="-104573"/>
              </a:stretch>
            </a:blipFill>
          </p:spPr>
        </p:sp>
        <p:sp>
          <p:nvSpPr>
            <p:cNvPr id="4" name="TextBox 4"/>
            <p:cNvSpPr txBox="1"/>
            <p:nvPr/>
          </p:nvSpPr>
          <p:spPr>
            <a:xfrm>
              <a:off x="0" y="66675"/>
              <a:ext cx="21031200" cy="2584451"/>
            </a:xfrm>
            <a:prstGeom prst="rect">
              <a:avLst/>
            </a:prstGeom>
          </p:spPr>
          <p:txBody>
            <a:bodyPr lIns="0" tIns="0" rIns="0" bIns="0" rtlCol="0" anchor="ctr"/>
            <a:lstStyle/>
            <a:p>
              <a:pPr algn="l">
                <a:lnSpc>
                  <a:spcPts val="7128"/>
                </a:lnSpc>
              </a:pPr>
              <a:r>
                <a:rPr lang="en-US" sz="6600" spc="-132">
                  <a:solidFill>
                    <a:srgbClr val="F3F6FA"/>
                  </a:solidFill>
                  <a:latin typeface="Arsenal"/>
                  <a:ea typeface="Arsenal"/>
                  <a:cs typeface="Arsenal"/>
                  <a:sym typeface="Arsenal"/>
                </a:rPr>
                <a:t>LITERATURE REVIEW</a:t>
              </a:r>
            </a:p>
          </p:txBody>
        </p:sp>
      </p:grpSp>
      <p:sp>
        <p:nvSpPr>
          <p:cNvPr id="5" name="TextBox 5"/>
          <p:cNvSpPr txBox="1"/>
          <p:nvPr/>
        </p:nvSpPr>
        <p:spPr>
          <a:xfrm>
            <a:off x="1028700" y="2912600"/>
            <a:ext cx="16814842" cy="6045642"/>
          </a:xfrm>
          <a:prstGeom prst="rect">
            <a:avLst/>
          </a:prstGeom>
        </p:spPr>
        <p:txBody>
          <a:bodyPr lIns="0" tIns="0" rIns="0" bIns="0" rtlCol="0" anchor="t">
            <a:spAutoFit/>
          </a:bodyPr>
          <a:lstStyle/>
          <a:p>
            <a:pPr marL="512366" lvl="1" indent="-256183" algn="just">
              <a:lnSpc>
                <a:spcPts val="2446"/>
              </a:lnSpc>
              <a:buFont typeface="Arial"/>
              <a:buChar char="•"/>
            </a:pPr>
            <a:r>
              <a:rPr lang="en-US" sz="2831">
                <a:solidFill>
                  <a:srgbClr val="F3F6FA"/>
                </a:solidFill>
                <a:latin typeface="Radley"/>
                <a:ea typeface="Radley"/>
                <a:cs typeface="Radley"/>
                <a:sym typeface="Radley"/>
              </a:rPr>
              <a:t>“Remote Monitoring System for Cold Storage using IoT” (2020)</a:t>
            </a:r>
          </a:p>
          <a:p>
            <a:pPr marL="512366" lvl="1" indent="-256183" algn="just">
              <a:lnSpc>
                <a:spcPts val="2446"/>
              </a:lnSpc>
            </a:pPr>
            <a:r>
              <a:rPr lang="en-US" sz="2831">
                <a:solidFill>
                  <a:srgbClr val="F3F6FA"/>
                </a:solidFill>
                <a:latin typeface="Radley"/>
                <a:ea typeface="Radley"/>
                <a:cs typeface="Radley"/>
                <a:sym typeface="Radley"/>
              </a:rPr>
              <a:t>This paper proposes an IoT-based system using temperature and humidity sensors to monitor cold storage conditions in real time. It reduces manual effort and improves storage efficiency through continuous monitoring.</a:t>
            </a:r>
          </a:p>
          <a:p>
            <a:pPr marL="512366" lvl="1" indent="-256183" algn="just">
              <a:lnSpc>
                <a:spcPts val="2446"/>
              </a:lnSpc>
              <a:buFont typeface="Arial"/>
              <a:buChar char="•"/>
            </a:pPr>
            <a:r>
              <a:rPr lang="en-US" sz="2831">
                <a:solidFill>
                  <a:srgbClr val="F3F6FA"/>
                </a:solidFill>
                <a:latin typeface="Radley"/>
                <a:ea typeface="Radley"/>
                <a:cs typeface="Radley"/>
                <a:sym typeface="Radley"/>
              </a:rPr>
              <a:t>“Food Spoilage Detection Monitoring and Alerting System” (2024)</a:t>
            </a:r>
          </a:p>
          <a:p>
            <a:pPr marL="512366" lvl="1" indent="-256183" algn="just">
              <a:lnSpc>
                <a:spcPts val="2446"/>
              </a:lnSpc>
            </a:pPr>
            <a:r>
              <a:rPr lang="en-US" sz="2831">
                <a:solidFill>
                  <a:srgbClr val="F3F6FA"/>
                </a:solidFill>
                <a:latin typeface="Radley"/>
                <a:ea typeface="Radley"/>
                <a:cs typeface="Radley"/>
                <a:sym typeface="Radley"/>
              </a:rPr>
              <a:t>This study integrates gas sensors along with temperature and humidity sensors to detect early spoilage conditions. It emphasizes that gas emission is a key indicator of food degradation and enables early alerts.</a:t>
            </a:r>
          </a:p>
          <a:p>
            <a:pPr marL="512366" lvl="1" indent="-256183" algn="just">
              <a:lnSpc>
                <a:spcPts val="2446"/>
              </a:lnSpc>
              <a:buFont typeface="Arial"/>
              <a:buChar char="•"/>
            </a:pPr>
            <a:r>
              <a:rPr lang="en-US" sz="2831">
                <a:solidFill>
                  <a:srgbClr val="F3F6FA"/>
                </a:solidFill>
                <a:latin typeface="Radley"/>
                <a:ea typeface="Radley"/>
                <a:cs typeface="Radley"/>
                <a:sym typeface="Radley"/>
              </a:rPr>
              <a:t>“IoT-Enabled Electronic Nose System for Food Quality Monitoring”</a:t>
            </a:r>
          </a:p>
          <a:p>
            <a:pPr marL="512366" lvl="1" indent="-256183" algn="just">
              <a:lnSpc>
                <a:spcPts val="2446"/>
              </a:lnSpc>
            </a:pPr>
            <a:r>
              <a:rPr lang="en-US" sz="2831">
                <a:solidFill>
                  <a:srgbClr val="F3F6FA"/>
                </a:solidFill>
                <a:latin typeface="Radley"/>
                <a:ea typeface="Radley"/>
                <a:cs typeface="Radley"/>
                <a:sym typeface="Radley"/>
              </a:rPr>
              <a:t>This research uses multiple gas sensors (such as ammonia and CO₂) to detect spoilage. The system shows that combining gas data with environmental factors improves accuracy in identifying food quality changes.</a:t>
            </a:r>
          </a:p>
          <a:p>
            <a:pPr marL="512366" lvl="1" indent="-256183" algn="just">
              <a:lnSpc>
                <a:spcPts val="2446"/>
              </a:lnSpc>
              <a:buFont typeface="Arial"/>
              <a:buChar char="•"/>
            </a:pPr>
            <a:r>
              <a:rPr lang="en-US" sz="2831">
                <a:solidFill>
                  <a:srgbClr val="F3F6FA"/>
                </a:solidFill>
                <a:latin typeface="Radley"/>
                <a:ea typeface="Radley"/>
                <a:cs typeface="Radley"/>
                <a:sym typeface="Radley"/>
              </a:rPr>
              <a:t>“IntelliStore: IoT and AI-based Intelligent Storage Monitoring System”</a:t>
            </a:r>
          </a:p>
          <a:p>
            <a:pPr marL="512366" lvl="1" indent="-256183" algn="just">
              <a:lnSpc>
                <a:spcPts val="2446"/>
              </a:lnSpc>
            </a:pPr>
            <a:r>
              <a:rPr lang="en-US" sz="2831">
                <a:solidFill>
                  <a:srgbClr val="F3F6FA"/>
                </a:solidFill>
                <a:latin typeface="Radley"/>
                <a:ea typeface="Radley"/>
                <a:cs typeface="Radley"/>
                <a:sym typeface="Radley"/>
              </a:rPr>
              <a:t>This paper combines IoT sensors with machine learning algorithms to predict spoilage risk. It highlights the importance of predictive analytics and real-time dashboards for better decision-making.</a:t>
            </a:r>
          </a:p>
          <a:p>
            <a:pPr marL="512366" lvl="1" indent="-256183" algn="just">
              <a:lnSpc>
                <a:spcPts val="2446"/>
              </a:lnSpc>
              <a:buFont typeface="Arial"/>
              <a:buChar char="•"/>
            </a:pPr>
            <a:r>
              <a:rPr lang="en-US" sz="2831">
                <a:solidFill>
                  <a:srgbClr val="F3F6FA"/>
                </a:solidFill>
                <a:latin typeface="Radley"/>
                <a:ea typeface="Radley"/>
                <a:cs typeface="Radley"/>
                <a:sym typeface="Radley"/>
              </a:rPr>
              <a:t>“Real-Time Anomaly Detection in Cold Chain Systems”</a:t>
            </a:r>
          </a:p>
          <a:p>
            <a:pPr marL="512366" lvl="1" indent="-256183" algn="just">
              <a:lnSpc>
                <a:spcPts val="2446"/>
              </a:lnSpc>
            </a:pPr>
            <a:r>
              <a:rPr lang="en-US" sz="2831">
                <a:solidFill>
                  <a:srgbClr val="F3F6FA"/>
                </a:solidFill>
                <a:latin typeface="Radley"/>
                <a:ea typeface="Radley"/>
                <a:cs typeface="Radley"/>
                <a:sym typeface="Radley"/>
              </a:rPr>
              <a:t>This study focuses on identifying abnormal conditions like sudden temperature rise and triggering alerts. It shows that early detection can significantly reduce food losses during storage and transportation. </a:t>
            </a:r>
          </a:p>
          <a:p>
            <a:pPr marL="512366" lvl="1" indent="-256183" algn="just">
              <a:lnSpc>
                <a:spcPts val="2446"/>
              </a:lnSpc>
            </a:pPr>
            <a:endParaRPr lang="en-US" sz="2831">
              <a:solidFill>
                <a:srgbClr val="F3F6FA"/>
              </a:solidFill>
              <a:latin typeface="Radley"/>
              <a:ea typeface="Radley"/>
              <a:cs typeface="Radley"/>
              <a:sym typeface="Radle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183248" y="1076183"/>
            <a:ext cx="5201573" cy="1989055"/>
            <a:chOff x="0" y="0"/>
            <a:chExt cx="6935430" cy="2652074"/>
          </a:xfrm>
        </p:grpSpPr>
        <p:sp>
          <p:nvSpPr>
            <p:cNvPr id="3" name="TextBox 3"/>
            <p:cNvSpPr txBox="1"/>
            <p:nvPr/>
          </p:nvSpPr>
          <p:spPr>
            <a:xfrm>
              <a:off x="0" y="0"/>
              <a:ext cx="6935430" cy="1384300"/>
            </a:xfrm>
            <a:prstGeom prst="rect">
              <a:avLst/>
            </a:prstGeom>
          </p:spPr>
          <p:txBody>
            <a:bodyPr lIns="0" tIns="0" rIns="0" bIns="0" rtlCol="0" anchor="t">
              <a:spAutoFit/>
            </a:bodyPr>
            <a:lstStyle/>
            <a:p>
              <a:pPr marL="0" lvl="0" indent="0" algn="l">
                <a:lnSpc>
                  <a:spcPts val="8189"/>
                </a:lnSpc>
              </a:pPr>
              <a:r>
                <a:rPr lang="en-US" sz="6825" b="1" spc="-41">
                  <a:solidFill>
                    <a:srgbClr val="F3F6FA"/>
                  </a:solidFill>
                  <a:latin typeface="TT Rounds Condensed Bold"/>
                  <a:ea typeface="TT Rounds Condensed Bold"/>
                  <a:cs typeface="TT Rounds Condensed Bold"/>
                  <a:sym typeface="TT Rounds Condensed Bold"/>
                </a:rPr>
                <a:t>OBJECTIVES</a:t>
              </a:r>
            </a:p>
          </p:txBody>
        </p:sp>
        <p:sp>
          <p:nvSpPr>
            <p:cNvPr id="4" name="TextBox 4"/>
            <p:cNvSpPr txBox="1"/>
            <p:nvPr/>
          </p:nvSpPr>
          <p:spPr>
            <a:xfrm>
              <a:off x="0" y="1928174"/>
              <a:ext cx="6935430" cy="723900"/>
            </a:xfrm>
            <a:prstGeom prst="rect">
              <a:avLst/>
            </a:prstGeom>
          </p:spPr>
          <p:txBody>
            <a:bodyPr lIns="0" tIns="0" rIns="0" bIns="0" rtlCol="0" anchor="t">
              <a:spAutoFit/>
            </a:bodyPr>
            <a:lstStyle/>
            <a:p>
              <a:pPr marL="0" lvl="0" indent="0" algn="l">
                <a:lnSpc>
                  <a:spcPts val="4320"/>
                </a:lnSpc>
              </a:pPr>
              <a:endParaRPr/>
            </a:p>
          </p:txBody>
        </p:sp>
      </p:grpSp>
      <p:grpSp>
        <p:nvGrpSpPr>
          <p:cNvPr id="5" name="Group 5"/>
          <p:cNvGrpSpPr/>
          <p:nvPr/>
        </p:nvGrpSpPr>
        <p:grpSpPr>
          <a:xfrm>
            <a:off x="7164660" y="1737563"/>
            <a:ext cx="10247291" cy="665800"/>
            <a:chOff x="0" y="0"/>
            <a:chExt cx="13663055" cy="887733"/>
          </a:xfrm>
        </p:grpSpPr>
        <p:sp>
          <p:nvSpPr>
            <p:cNvPr id="6" name="TextBox 6"/>
            <p:cNvSpPr txBox="1"/>
            <p:nvPr/>
          </p:nvSpPr>
          <p:spPr>
            <a:xfrm>
              <a:off x="1961809" y="181121"/>
              <a:ext cx="11701245" cy="360654"/>
            </a:xfrm>
            <a:prstGeom prst="rect">
              <a:avLst/>
            </a:prstGeom>
          </p:spPr>
          <p:txBody>
            <a:bodyPr lIns="0" tIns="0" rIns="0" bIns="0" rtlCol="0" anchor="t">
              <a:spAutoFit/>
            </a:bodyPr>
            <a:lstStyle/>
            <a:p>
              <a:pPr marL="0" lvl="0" indent="0" algn="l">
                <a:lnSpc>
                  <a:spcPts val="1573"/>
                </a:lnSpc>
              </a:pPr>
              <a:r>
                <a:rPr lang="en-US" sz="2070">
                  <a:solidFill>
                    <a:srgbClr val="F3F6FA"/>
                  </a:solidFill>
                  <a:latin typeface="Calibri (MS)"/>
                  <a:ea typeface="Calibri (MS)"/>
                  <a:cs typeface="Calibri (MS)"/>
                  <a:sym typeface="Calibri (MS)"/>
                </a:rPr>
                <a:t>Monitor temperature, humidity, gas levels, and door status in cold storage</a:t>
              </a:r>
            </a:p>
          </p:txBody>
        </p:sp>
        <p:sp>
          <p:nvSpPr>
            <p:cNvPr id="7" name="TextBox 7"/>
            <p:cNvSpPr txBox="1"/>
            <p:nvPr/>
          </p:nvSpPr>
          <p:spPr>
            <a:xfrm>
              <a:off x="0" y="180975"/>
              <a:ext cx="1250152" cy="706758"/>
            </a:xfrm>
            <a:prstGeom prst="rect">
              <a:avLst/>
            </a:prstGeom>
          </p:spPr>
          <p:txBody>
            <a:bodyPr lIns="0" tIns="0" rIns="0" bIns="0" rtlCol="0" anchor="t">
              <a:spAutoFit/>
            </a:bodyPr>
            <a:lstStyle/>
            <a:p>
              <a:pPr algn="l">
                <a:lnSpc>
                  <a:spcPts val="3355"/>
                </a:lnSpc>
              </a:pPr>
              <a:r>
                <a:rPr lang="en-US" sz="4414" b="1" spc="-26">
                  <a:solidFill>
                    <a:srgbClr val="F3F6FA"/>
                  </a:solidFill>
                  <a:latin typeface="TT Rounds Condensed Bold"/>
                  <a:ea typeface="TT Rounds Condensed Bold"/>
                  <a:cs typeface="TT Rounds Condensed Bold"/>
                  <a:sym typeface="TT Rounds Condensed Bold"/>
                </a:rPr>
                <a:t>01</a:t>
              </a:r>
            </a:p>
          </p:txBody>
        </p:sp>
      </p:grpSp>
      <p:grpSp>
        <p:nvGrpSpPr>
          <p:cNvPr id="8" name="Group 8"/>
          <p:cNvGrpSpPr/>
          <p:nvPr/>
        </p:nvGrpSpPr>
        <p:grpSpPr>
          <a:xfrm>
            <a:off x="7164660" y="3160092"/>
            <a:ext cx="10247291" cy="672818"/>
            <a:chOff x="0" y="0"/>
            <a:chExt cx="13663055" cy="897090"/>
          </a:xfrm>
        </p:grpSpPr>
        <p:sp>
          <p:nvSpPr>
            <p:cNvPr id="9" name="TextBox 9"/>
            <p:cNvSpPr txBox="1"/>
            <p:nvPr/>
          </p:nvSpPr>
          <p:spPr>
            <a:xfrm>
              <a:off x="1961809" y="57296"/>
              <a:ext cx="11701245" cy="486657"/>
            </a:xfrm>
            <a:prstGeom prst="rect">
              <a:avLst/>
            </a:prstGeom>
          </p:spPr>
          <p:txBody>
            <a:bodyPr lIns="0" tIns="0" rIns="0" bIns="0" rtlCol="0" anchor="t">
              <a:spAutoFit/>
            </a:bodyPr>
            <a:lstStyle/>
            <a:p>
              <a:pPr marL="0" lvl="0" indent="0" algn="l">
                <a:lnSpc>
                  <a:spcPts val="2898"/>
                </a:lnSpc>
              </a:pPr>
              <a:r>
                <a:rPr lang="en-US" sz="2070">
                  <a:solidFill>
                    <a:srgbClr val="F3F6FA"/>
                  </a:solidFill>
                  <a:latin typeface="Calibri (MS)"/>
                  <a:ea typeface="Calibri (MS)"/>
                  <a:cs typeface="Calibri (MS)"/>
                  <a:sym typeface="Calibri (MS)"/>
                </a:rPr>
                <a:t>Analyze environmental trends over time</a:t>
              </a:r>
            </a:p>
          </p:txBody>
        </p:sp>
        <p:sp>
          <p:nvSpPr>
            <p:cNvPr id="10" name="TextBox 10"/>
            <p:cNvSpPr txBox="1"/>
            <p:nvPr/>
          </p:nvSpPr>
          <p:spPr>
            <a:xfrm>
              <a:off x="0" y="0"/>
              <a:ext cx="1250152" cy="897090"/>
            </a:xfrm>
            <a:prstGeom prst="rect">
              <a:avLst/>
            </a:prstGeom>
          </p:spPr>
          <p:txBody>
            <a:bodyPr lIns="0" tIns="0" rIns="0" bIns="0" rtlCol="0" anchor="t">
              <a:spAutoFit/>
            </a:bodyPr>
            <a:lstStyle/>
            <a:p>
              <a:pPr algn="l">
                <a:lnSpc>
                  <a:spcPts val="5297"/>
                </a:lnSpc>
              </a:pPr>
              <a:r>
                <a:rPr lang="en-US" sz="4414" b="1" spc="-26">
                  <a:solidFill>
                    <a:srgbClr val="F3F6FA"/>
                  </a:solidFill>
                  <a:latin typeface="TT Rounds Condensed Bold"/>
                  <a:ea typeface="TT Rounds Condensed Bold"/>
                  <a:cs typeface="TT Rounds Condensed Bold"/>
                  <a:sym typeface="TT Rounds Condensed Bold"/>
                </a:rPr>
                <a:t>02</a:t>
              </a:r>
            </a:p>
          </p:txBody>
        </p:sp>
      </p:grpSp>
      <p:grpSp>
        <p:nvGrpSpPr>
          <p:cNvPr id="11" name="Group 11"/>
          <p:cNvGrpSpPr/>
          <p:nvPr/>
        </p:nvGrpSpPr>
        <p:grpSpPr>
          <a:xfrm>
            <a:off x="7164660" y="4582621"/>
            <a:ext cx="10247291" cy="672818"/>
            <a:chOff x="0" y="0"/>
            <a:chExt cx="13663055" cy="897090"/>
          </a:xfrm>
        </p:grpSpPr>
        <p:sp>
          <p:nvSpPr>
            <p:cNvPr id="12" name="TextBox 12"/>
            <p:cNvSpPr txBox="1"/>
            <p:nvPr/>
          </p:nvSpPr>
          <p:spPr>
            <a:xfrm>
              <a:off x="1961809" y="57296"/>
              <a:ext cx="11701245" cy="486657"/>
            </a:xfrm>
            <a:prstGeom prst="rect">
              <a:avLst/>
            </a:prstGeom>
          </p:spPr>
          <p:txBody>
            <a:bodyPr lIns="0" tIns="0" rIns="0" bIns="0" rtlCol="0" anchor="t">
              <a:spAutoFit/>
            </a:bodyPr>
            <a:lstStyle/>
            <a:p>
              <a:pPr marL="0" lvl="0" indent="0" algn="l">
                <a:lnSpc>
                  <a:spcPts val="2898"/>
                </a:lnSpc>
              </a:pPr>
              <a:r>
                <a:rPr lang="en-US" sz="2070">
                  <a:solidFill>
                    <a:srgbClr val="F3F6FA"/>
                  </a:solidFill>
                  <a:latin typeface="Calibri (MS)"/>
                  <a:ea typeface="Calibri (MS)"/>
                  <a:cs typeface="Calibri (MS)"/>
                  <a:sym typeface="Calibri (MS)"/>
                </a:rPr>
                <a:t>Predict spoilage risk using data insights</a:t>
              </a:r>
            </a:p>
          </p:txBody>
        </p:sp>
        <p:sp>
          <p:nvSpPr>
            <p:cNvPr id="13" name="TextBox 13"/>
            <p:cNvSpPr txBox="1"/>
            <p:nvPr/>
          </p:nvSpPr>
          <p:spPr>
            <a:xfrm>
              <a:off x="0" y="0"/>
              <a:ext cx="1250152" cy="897090"/>
            </a:xfrm>
            <a:prstGeom prst="rect">
              <a:avLst/>
            </a:prstGeom>
          </p:spPr>
          <p:txBody>
            <a:bodyPr lIns="0" tIns="0" rIns="0" bIns="0" rtlCol="0" anchor="t">
              <a:spAutoFit/>
            </a:bodyPr>
            <a:lstStyle/>
            <a:p>
              <a:pPr algn="l">
                <a:lnSpc>
                  <a:spcPts val="5297"/>
                </a:lnSpc>
              </a:pPr>
              <a:r>
                <a:rPr lang="en-US" sz="4414" b="1" spc="-26">
                  <a:solidFill>
                    <a:srgbClr val="F3F6FA"/>
                  </a:solidFill>
                  <a:latin typeface="TT Rounds Condensed Bold"/>
                  <a:ea typeface="TT Rounds Condensed Bold"/>
                  <a:cs typeface="TT Rounds Condensed Bold"/>
                  <a:sym typeface="TT Rounds Condensed Bold"/>
                </a:rPr>
                <a:t>03</a:t>
              </a:r>
            </a:p>
          </p:txBody>
        </p:sp>
      </p:grpSp>
      <p:grpSp>
        <p:nvGrpSpPr>
          <p:cNvPr id="14" name="Group 14"/>
          <p:cNvGrpSpPr/>
          <p:nvPr/>
        </p:nvGrpSpPr>
        <p:grpSpPr>
          <a:xfrm>
            <a:off x="7164660" y="6052943"/>
            <a:ext cx="10247291" cy="672818"/>
            <a:chOff x="0" y="0"/>
            <a:chExt cx="13663055" cy="897090"/>
          </a:xfrm>
        </p:grpSpPr>
        <p:sp>
          <p:nvSpPr>
            <p:cNvPr id="15" name="TextBox 15"/>
            <p:cNvSpPr txBox="1"/>
            <p:nvPr/>
          </p:nvSpPr>
          <p:spPr>
            <a:xfrm>
              <a:off x="1961809" y="57296"/>
              <a:ext cx="11701245" cy="486657"/>
            </a:xfrm>
            <a:prstGeom prst="rect">
              <a:avLst/>
            </a:prstGeom>
          </p:spPr>
          <p:txBody>
            <a:bodyPr lIns="0" tIns="0" rIns="0" bIns="0" rtlCol="0" anchor="t">
              <a:spAutoFit/>
            </a:bodyPr>
            <a:lstStyle/>
            <a:p>
              <a:pPr marL="0" lvl="0" indent="0" algn="l">
                <a:lnSpc>
                  <a:spcPts val="2898"/>
                </a:lnSpc>
              </a:pPr>
              <a:r>
                <a:rPr lang="en-US" sz="2070">
                  <a:solidFill>
                    <a:srgbClr val="F3F6FA"/>
                  </a:solidFill>
                  <a:latin typeface="Calibri (MS)"/>
                  <a:ea typeface="Calibri (MS)"/>
                  <a:cs typeface="Calibri (MS)"/>
                  <a:sym typeface="Calibri (MS)"/>
                </a:rPr>
                <a:t>Generate alerts for unsafe conditions (temperature rise, gas leak, door open)</a:t>
              </a:r>
            </a:p>
          </p:txBody>
        </p:sp>
        <p:sp>
          <p:nvSpPr>
            <p:cNvPr id="16" name="TextBox 16"/>
            <p:cNvSpPr txBox="1"/>
            <p:nvPr/>
          </p:nvSpPr>
          <p:spPr>
            <a:xfrm>
              <a:off x="0" y="0"/>
              <a:ext cx="1250152" cy="897090"/>
            </a:xfrm>
            <a:prstGeom prst="rect">
              <a:avLst/>
            </a:prstGeom>
          </p:spPr>
          <p:txBody>
            <a:bodyPr lIns="0" tIns="0" rIns="0" bIns="0" rtlCol="0" anchor="t">
              <a:spAutoFit/>
            </a:bodyPr>
            <a:lstStyle/>
            <a:p>
              <a:pPr algn="l">
                <a:lnSpc>
                  <a:spcPts val="5297"/>
                </a:lnSpc>
              </a:pPr>
              <a:r>
                <a:rPr lang="en-US" sz="4414" b="1" spc="-26">
                  <a:solidFill>
                    <a:srgbClr val="F3F6FA"/>
                  </a:solidFill>
                  <a:latin typeface="TT Rounds Condensed Bold"/>
                  <a:ea typeface="TT Rounds Condensed Bold"/>
                  <a:cs typeface="TT Rounds Condensed Bold"/>
                  <a:sym typeface="TT Rounds Condensed Bold"/>
                </a:rPr>
                <a:t>04</a:t>
              </a:r>
            </a:p>
          </p:txBody>
        </p:sp>
      </p:grpSp>
      <p:grpSp>
        <p:nvGrpSpPr>
          <p:cNvPr id="17" name="Group 17"/>
          <p:cNvGrpSpPr/>
          <p:nvPr/>
        </p:nvGrpSpPr>
        <p:grpSpPr>
          <a:xfrm>
            <a:off x="7164660" y="7427679"/>
            <a:ext cx="10247291" cy="672818"/>
            <a:chOff x="0" y="0"/>
            <a:chExt cx="13663055" cy="897090"/>
          </a:xfrm>
        </p:grpSpPr>
        <p:sp>
          <p:nvSpPr>
            <p:cNvPr id="18" name="TextBox 18"/>
            <p:cNvSpPr txBox="1"/>
            <p:nvPr/>
          </p:nvSpPr>
          <p:spPr>
            <a:xfrm>
              <a:off x="1961809" y="57296"/>
              <a:ext cx="11701245" cy="486657"/>
            </a:xfrm>
            <a:prstGeom prst="rect">
              <a:avLst/>
            </a:prstGeom>
          </p:spPr>
          <p:txBody>
            <a:bodyPr lIns="0" tIns="0" rIns="0" bIns="0" rtlCol="0" anchor="t">
              <a:spAutoFit/>
            </a:bodyPr>
            <a:lstStyle/>
            <a:p>
              <a:pPr marL="0" lvl="0" indent="0" algn="l">
                <a:lnSpc>
                  <a:spcPts val="2898"/>
                </a:lnSpc>
              </a:pPr>
              <a:r>
                <a:rPr lang="en-US" sz="2070">
                  <a:solidFill>
                    <a:srgbClr val="F3F6FA"/>
                  </a:solidFill>
                  <a:latin typeface="Calibri (MS)"/>
                  <a:ea typeface="Calibri (MS)"/>
                  <a:cs typeface="Calibri (MS)"/>
                  <a:sym typeface="Calibri (MS)"/>
                </a:rPr>
                <a:t>Improve decision-making and reduce losses</a:t>
              </a:r>
            </a:p>
          </p:txBody>
        </p:sp>
        <p:sp>
          <p:nvSpPr>
            <p:cNvPr id="19" name="TextBox 19"/>
            <p:cNvSpPr txBox="1"/>
            <p:nvPr/>
          </p:nvSpPr>
          <p:spPr>
            <a:xfrm>
              <a:off x="0" y="0"/>
              <a:ext cx="1250152" cy="897090"/>
            </a:xfrm>
            <a:prstGeom prst="rect">
              <a:avLst/>
            </a:prstGeom>
          </p:spPr>
          <p:txBody>
            <a:bodyPr lIns="0" tIns="0" rIns="0" bIns="0" rtlCol="0" anchor="t">
              <a:spAutoFit/>
            </a:bodyPr>
            <a:lstStyle/>
            <a:p>
              <a:pPr algn="l">
                <a:lnSpc>
                  <a:spcPts val="5297"/>
                </a:lnSpc>
              </a:pPr>
              <a:r>
                <a:rPr lang="en-US" sz="4414" b="1" spc="-26">
                  <a:solidFill>
                    <a:srgbClr val="F3F6FA"/>
                  </a:solidFill>
                  <a:latin typeface="TT Rounds Condensed Bold"/>
                  <a:ea typeface="TT Rounds Condensed Bold"/>
                  <a:cs typeface="TT Rounds Condensed Bold"/>
                  <a:sym typeface="TT Rounds Condensed Bold"/>
                </a:rPr>
                <a:t>05</a:t>
              </a:r>
            </a:p>
          </p:txBody>
        </p:sp>
      </p:grpSp>
      <p:grpSp>
        <p:nvGrpSpPr>
          <p:cNvPr id="20" name="Group 20"/>
          <p:cNvGrpSpPr/>
          <p:nvPr/>
        </p:nvGrpSpPr>
        <p:grpSpPr>
          <a:xfrm>
            <a:off x="7164660" y="8850208"/>
            <a:ext cx="10247291" cy="672818"/>
            <a:chOff x="0" y="0"/>
            <a:chExt cx="13663055" cy="897090"/>
          </a:xfrm>
        </p:grpSpPr>
        <p:sp>
          <p:nvSpPr>
            <p:cNvPr id="21" name="TextBox 21"/>
            <p:cNvSpPr txBox="1"/>
            <p:nvPr/>
          </p:nvSpPr>
          <p:spPr>
            <a:xfrm>
              <a:off x="1961809" y="57296"/>
              <a:ext cx="11701245" cy="486657"/>
            </a:xfrm>
            <a:prstGeom prst="rect">
              <a:avLst/>
            </a:prstGeom>
          </p:spPr>
          <p:txBody>
            <a:bodyPr lIns="0" tIns="0" rIns="0" bIns="0" rtlCol="0" anchor="t">
              <a:spAutoFit/>
            </a:bodyPr>
            <a:lstStyle/>
            <a:p>
              <a:pPr marL="0" lvl="0" indent="0" algn="l">
                <a:lnSpc>
                  <a:spcPts val="2898"/>
                </a:lnSpc>
              </a:pPr>
              <a:r>
                <a:rPr lang="en-US" sz="2070">
                  <a:solidFill>
                    <a:srgbClr val="F3F6FA"/>
                  </a:solidFill>
                  <a:latin typeface="Calibri (MS)"/>
                  <a:ea typeface="Calibri (MS)"/>
                  <a:cs typeface="Calibri (MS)"/>
                  <a:sym typeface="Calibri (MS)"/>
                </a:rPr>
                <a:t>Develop an interactive dashboard using Microsoft Power BI</a:t>
              </a:r>
            </a:p>
          </p:txBody>
        </p:sp>
        <p:sp>
          <p:nvSpPr>
            <p:cNvPr id="22" name="TextBox 22"/>
            <p:cNvSpPr txBox="1"/>
            <p:nvPr/>
          </p:nvSpPr>
          <p:spPr>
            <a:xfrm>
              <a:off x="0" y="0"/>
              <a:ext cx="1250152" cy="897090"/>
            </a:xfrm>
            <a:prstGeom prst="rect">
              <a:avLst/>
            </a:prstGeom>
          </p:spPr>
          <p:txBody>
            <a:bodyPr lIns="0" tIns="0" rIns="0" bIns="0" rtlCol="0" anchor="t">
              <a:spAutoFit/>
            </a:bodyPr>
            <a:lstStyle/>
            <a:p>
              <a:pPr algn="l">
                <a:lnSpc>
                  <a:spcPts val="5297"/>
                </a:lnSpc>
              </a:pPr>
              <a:r>
                <a:rPr lang="en-US" sz="4414" b="1" spc="-26">
                  <a:solidFill>
                    <a:srgbClr val="F3F6FA"/>
                  </a:solidFill>
                  <a:latin typeface="TT Rounds Condensed Bold"/>
                  <a:ea typeface="TT Rounds Condensed Bold"/>
                  <a:cs typeface="TT Rounds Condensed Bold"/>
                  <a:sym typeface="TT Rounds Condensed Bold"/>
                </a:rPr>
                <a:t>06</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SYSTEM ARCHITECTURE DESIGN</a:t>
              </a:r>
            </a:p>
          </p:txBody>
        </p:sp>
      </p:grpSp>
      <p:grpSp>
        <p:nvGrpSpPr>
          <p:cNvPr id="5" name="Group 5"/>
          <p:cNvGrpSpPr/>
          <p:nvPr/>
        </p:nvGrpSpPr>
        <p:grpSpPr>
          <a:xfrm>
            <a:off x="1611679" y="2404510"/>
            <a:ext cx="14203049" cy="7118202"/>
            <a:chOff x="0" y="0"/>
            <a:chExt cx="19051740" cy="9548241"/>
          </a:xfrm>
        </p:grpSpPr>
        <p:sp>
          <p:nvSpPr>
            <p:cNvPr id="6" name="Freeform 6"/>
            <p:cNvSpPr/>
            <p:nvPr/>
          </p:nvSpPr>
          <p:spPr>
            <a:xfrm>
              <a:off x="0" y="0"/>
              <a:ext cx="19051727" cy="9548241"/>
            </a:xfrm>
            <a:custGeom>
              <a:avLst/>
              <a:gdLst/>
              <a:ahLst/>
              <a:cxnLst/>
              <a:rect l="l" t="t" r="r" b="b"/>
              <a:pathLst>
                <a:path w="19051727" h="9548241">
                  <a:moveTo>
                    <a:pt x="0" y="0"/>
                  </a:moveTo>
                  <a:lnTo>
                    <a:pt x="19051727" y="0"/>
                  </a:lnTo>
                  <a:lnTo>
                    <a:pt x="19051727" y="9548241"/>
                  </a:lnTo>
                  <a:lnTo>
                    <a:pt x="0" y="9548241"/>
                  </a:lnTo>
                  <a:lnTo>
                    <a:pt x="0" y="0"/>
                  </a:lnTo>
                  <a:close/>
                </a:path>
              </a:pathLst>
            </a:custGeom>
            <a:blipFill>
              <a:blip r:embed="rId3"/>
              <a:stretch>
                <a:fillRect t="-2521" b="-2521"/>
              </a:stretch>
            </a:blip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ARCHITECTURE SYSTEM</a:t>
              </a:r>
            </a:p>
          </p:txBody>
        </p:sp>
      </p:grpSp>
      <p:grpSp>
        <p:nvGrpSpPr>
          <p:cNvPr id="5" name="Group 5"/>
          <p:cNvGrpSpPr/>
          <p:nvPr/>
        </p:nvGrpSpPr>
        <p:grpSpPr>
          <a:xfrm>
            <a:off x="1257300" y="2536031"/>
            <a:ext cx="13039479" cy="6362643"/>
            <a:chOff x="0" y="0"/>
            <a:chExt cx="12377621" cy="6039688"/>
          </a:xfrm>
        </p:grpSpPr>
        <p:sp>
          <p:nvSpPr>
            <p:cNvPr id="6" name="Freeform 6"/>
            <p:cNvSpPr/>
            <p:nvPr/>
          </p:nvSpPr>
          <p:spPr>
            <a:xfrm>
              <a:off x="0" y="0"/>
              <a:ext cx="12377557" cy="6039739"/>
            </a:xfrm>
            <a:custGeom>
              <a:avLst/>
              <a:gdLst/>
              <a:ahLst/>
              <a:cxnLst/>
              <a:rect l="l" t="t" r="r" b="b"/>
              <a:pathLst>
                <a:path w="12377557" h="6039739">
                  <a:moveTo>
                    <a:pt x="0" y="0"/>
                  </a:moveTo>
                  <a:lnTo>
                    <a:pt x="12377557" y="0"/>
                  </a:lnTo>
                  <a:lnTo>
                    <a:pt x="12377557" y="6039739"/>
                  </a:lnTo>
                  <a:lnTo>
                    <a:pt x="0" y="6039739"/>
                  </a:lnTo>
                  <a:lnTo>
                    <a:pt x="0" y="0"/>
                  </a:lnTo>
                  <a:close/>
                </a:path>
              </a:pathLst>
            </a:custGeom>
            <a:blipFill>
              <a:blip r:embed="rId3"/>
              <a:stretch>
                <a:fillRect t="-517" b="-516"/>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LIVE CLOUD DATA</a:t>
              </a:r>
            </a:p>
            <a:p>
              <a:pPr algn="l">
                <a:lnSpc>
                  <a:spcPts val="7128"/>
                </a:lnSpc>
              </a:pPr>
              <a:endParaRPr lang="en-US" sz="6600" b="1" spc="-40">
                <a:solidFill>
                  <a:srgbClr val="F3F6FA"/>
                </a:solidFill>
                <a:latin typeface="TT Rounds Condensed Bold"/>
                <a:ea typeface="TT Rounds Condensed Bold"/>
                <a:cs typeface="TT Rounds Condensed Bold"/>
                <a:sym typeface="TT Rounds Condensed Bold"/>
              </a:endParaRPr>
            </a:p>
          </p:txBody>
        </p:sp>
      </p:grpSp>
      <p:grpSp>
        <p:nvGrpSpPr>
          <p:cNvPr id="5" name="Group 5"/>
          <p:cNvGrpSpPr/>
          <p:nvPr/>
        </p:nvGrpSpPr>
        <p:grpSpPr>
          <a:xfrm>
            <a:off x="2064772" y="2050256"/>
            <a:ext cx="13863485" cy="7022573"/>
            <a:chOff x="0" y="0"/>
            <a:chExt cx="18484647" cy="9363431"/>
          </a:xfrm>
        </p:grpSpPr>
        <p:sp>
          <p:nvSpPr>
            <p:cNvPr id="6" name="Freeform 6"/>
            <p:cNvSpPr/>
            <p:nvPr/>
          </p:nvSpPr>
          <p:spPr>
            <a:xfrm>
              <a:off x="0" y="0"/>
              <a:ext cx="18484596" cy="9363456"/>
            </a:xfrm>
            <a:custGeom>
              <a:avLst/>
              <a:gdLst/>
              <a:ahLst/>
              <a:cxnLst/>
              <a:rect l="l" t="t" r="r" b="b"/>
              <a:pathLst>
                <a:path w="18484596" h="9363456">
                  <a:moveTo>
                    <a:pt x="0" y="0"/>
                  </a:moveTo>
                  <a:lnTo>
                    <a:pt x="18484596" y="0"/>
                  </a:lnTo>
                  <a:lnTo>
                    <a:pt x="18484596" y="9363456"/>
                  </a:lnTo>
                  <a:lnTo>
                    <a:pt x="0" y="9363456"/>
                  </a:lnTo>
                  <a:lnTo>
                    <a:pt x="0" y="0"/>
                  </a:lnTo>
                  <a:close/>
                </a:path>
              </a:pathLst>
            </a:custGeom>
            <a:blipFill>
              <a:blip r:embed="rId3"/>
              <a:stretch>
                <a:fillRect t="-7028" b="-7028"/>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LIVE CLOUD DATA</a:t>
              </a:r>
            </a:p>
            <a:p>
              <a:pPr algn="l">
                <a:lnSpc>
                  <a:spcPts val="7128"/>
                </a:lnSpc>
              </a:pPr>
              <a:endParaRPr lang="en-US" sz="6600" b="1" spc="-40">
                <a:solidFill>
                  <a:srgbClr val="F3F6FA"/>
                </a:solidFill>
                <a:latin typeface="TT Rounds Condensed Bold"/>
                <a:ea typeface="TT Rounds Condensed Bold"/>
                <a:cs typeface="TT Rounds Condensed Bold"/>
                <a:sym typeface="TT Rounds Condensed Bold"/>
              </a:endParaRPr>
            </a:p>
          </p:txBody>
        </p:sp>
      </p:grpSp>
      <p:grpSp>
        <p:nvGrpSpPr>
          <p:cNvPr id="5" name="Group 5"/>
          <p:cNvGrpSpPr/>
          <p:nvPr/>
        </p:nvGrpSpPr>
        <p:grpSpPr>
          <a:xfrm>
            <a:off x="1295162" y="2137829"/>
            <a:ext cx="15735538" cy="6729412"/>
            <a:chOff x="0" y="0"/>
            <a:chExt cx="20980718" cy="8972550"/>
          </a:xfrm>
        </p:grpSpPr>
        <p:sp>
          <p:nvSpPr>
            <p:cNvPr id="6" name="Freeform 6"/>
            <p:cNvSpPr/>
            <p:nvPr/>
          </p:nvSpPr>
          <p:spPr>
            <a:xfrm>
              <a:off x="0" y="0"/>
              <a:ext cx="20980781" cy="8972550"/>
            </a:xfrm>
            <a:custGeom>
              <a:avLst/>
              <a:gdLst/>
              <a:ahLst/>
              <a:cxnLst/>
              <a:rect l="l" t="t" r="r" b="b"/>
              <a:pathLst>
                <a:path w="20980781" h="8972550">
                  <a:moveTo>
                    <a:pt x="0" y="0"/>
                  </a:moveTo>
                  <a:lnTo>
                    <a:pt x="20980781" y="0"/>
                  </a:lnTo>
                  <a:lnTo>
                    <a:pt x="20980781" y="8972550"/>
                  </a:lnTo>
                  <a:lnTo>
                    <a:pt x="0" y="8972550"/>
                  </a:lnTo>
                  <a:lnTo>
                    <a:pt x="0" y="0"/>
                  </a:lnTo>
                  <a:close/>
                </a:path>
              </a:pathLst>
            </a:custGeom>
            <a:blipFill>
              <a:blip r:embed="rId3"/>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678881"/>
            <a:ext cx="5154594" cy="1389651"/>
            <a:chOff x="0" y="0"/>
            <a:chExt cx="6872792" cy="1852868"/>
          </a:xfrm>
        </p:grpSpPr>
        <p:sp>
          <p:nvSpPr>
            <p:cNvPr id="3" name="TextBox 3"/>
            <p:cNvSpPr txBox="1"/>
            <p:nvPr/>
          </p:nvSpPr>
          <p:spPr>
            <a:xfrm>
              <a:off x="0" y="-133350"/>
              <a:ext cx="6872792" cy="1313750"/>
            </a:xfrm>
            <a:prstGeom prst="rect">
              <a:avLst/>
            </a:prstGeom>
          </p:spPr>
          <p:txBody>
            <a:bodyPr lIns="0" tIns="0" rIns="0" bIns="0" rtlCol="0" anchor="t">
              <a:spAutoFit/>
            </a:bodyPr>
            <a:lstStyle/>
            <a:p>
              <a:pPr marL="0" lvl="0" indent="0" algn="l">
                <a:lnSpc>
                  <a:spcPts val="3960"/>
                </a:lnSpc>
                <a:spcBef>
                  <a:spcPct val="0"/>
                </a:spcBef>
              </a:pPr>
              <a:r>
                <a:rPr lang="en-US" sz="2640" b="1" u="none">
                  <a:solidFill>
                    <a:srgbClr val="F3F6FA"/>
                  </a:solidFill>
                  <a:latin typeface="Calibri (MS) Bold"/>
                  <a:ea typeface="Calibri (MS) Bold"/>
                  <a:cs typeface="Calibri (MS) Bold"/>
                  <a:sym typeface="Calibri (MS) Bold"/>
                </a:rPr>
                <a:t>Controls and processes all sensor data</a:t>
              </a:r>
            </a:p>
          </p:txBody>
        </p:sp>
        <p:sp>
          <p:nvSpPr>
            <p:cNvPr id="4" name="TextBox 4"/>
            <p:cNvSpPr txBox="1"/>
            <p:nvPr/>
          </p:nvSpPr>
          <p:spPr>
            <a:xfrm>
              <a:off x="0" y="1318857"/>
              <a:ext cx="6872792" cy="534011"/>
            </a:xfrm>
            <a:prstGeom prst="rect">
              <a:avLst/>
            </a:prstGeom>
          </p:spPr>
          <p:txBody>
            <a:bodyPr lIns="0" tIns="0" rIns="0" bIns="0" rtlCol="0" anchor="t">
              <a:spAutoFit/>
            </a:bodyPr>
            <a:lstStyle/>
            <a:p>
              <a:pPr marL="0" lvl="0" indent="0" algn="l">
                <a:lnSpc>
                  <a:spcPts val="3168"/>
                </a:lnSpc>
                <a:spcBef>
                  <a:spcPct val="0"/>
                </a:spcBef>
              </a:pPr>
              <a:r>
                <a:rPr lang="en-US" sz="2112">
                  <a:solidFill>
                    <a:srgbClr val="F3F6FA"/>
                  </a:solidFill>
                  <a:latin typeface="Calibri (MS)"/>
                  <a:ea typeface="Calibri (MS)"/>
                  <a:cs typeface="Calibri (MS)"/>
                  <a:sym typeface="Calibri (MS)"/>
                </a:rPr>
                <a:t>ESP32 Microcontroller</a:t>
              </a:r>
            </a:p>
          </p:txBody>
        </p:sp>
      </p:grpSp>
      <p:grpSp>
        <p:nvGrpSpPr>
          <p:cNvPr id="5" name="Group 5"/>
          <p:cNvGrpSpPr/>
          <p:nvPr/>
        </p:nvGrpSpPr>
        <p:grpSpPr>
          <a:xfrm>
            <a:off x="6817558" y="3678881"/>
            <a:ext cx="5154594" cy="896700"/>
            <a:chOff x="0" y="0"/>
            <a:chExt cx="6872792" cy="1195600"/>
          </a:xfrm>
        </p:grpSpPr>
        <p:sp>
          <p:nvSpPr>
            <p:cNvPr id="6" name="TextBox 6"/>
            <p:cNvSpPr txBox="1"/>
            <p:nvPr/>
          </p:nvSpPr>
          <p:spPr>
            <a:xfrm>
              <a:off x="0" y="-133350"/>
              <a:ext cx="6872792" cy="656482"/>
            </a:xfrm>
            <a:prstGeom prst="rect">
              <a:avLst/>
            </a:prstGeom>
          </p:spPr>
          <p:txBody>
            <a:bodyPr lIns="0" tIns="0" rIns="0" bIns="0" rtlCol="0" anchor="t">
              <a:spAutoFit/>
            </a:bodyPr>
            <a:lstStyle/>
            <a:p>
              <a:pPr marL="0" lvl="0" indent="0" algn="l">
                <a:lnSpc>
                  <a:spcPts val="3960"/>
                </a:lnSpc>
                <a:spcBef>
                  <a:spcPct val="0"/>
                </a:spcBef>
              </a:pPr>
              <a:r>
                <a:rPr lang="en-US" sz="2640" b="1" u="none">
                  <a:solidFill>
                    <a:srgbClr val="F3F6FA"/>
                  </a:solidFill>
                  <a:latin typeface="Calibri (MS) Bold"/>
                  <a:ea typeface="Calibri (MS) Bold"/>
                  <a:cs typeface="Calibri (MS) Bold"/>
                  <a:sym typeface="Calibri (MS) Bold"/>
                </a:rPr>
                <a:t>Measures temperature and humidity</a:t>
              </a:r>
            </a:p>
          </p:txBody>
        </p:sp>
        <p:sp>
          <p:nvSpPr>
            <p:cNvPr id="7" name="TextBox 7"/>
            <p:cNvSpPr txBox="1"/>
            <p:nvPr/>
          </p:nvSpPr>
          <p:spPr>
            <a:xfrm>
              <a:off x="0" y="661589"/>
              <a:ext cx="6872792" cy="534011"/>
            </a:xfrm>
            <a:prstGeom prst="rect">
              <a:avLst/>
            </a:prstGeom>
          </p:spPr>
          <p:txBody>
            <a:bodyPr lIns="0" tIns="0" rIns="0" bIns="0" rtlCol="0" anchor="t">
              <a:spAutoFit/>
            </a:bodyPr>
            <a:lstStyle/>
            <a:p>
              <a:pPr marL="0" lvl="0" indent="0" algn="l">
                <a:lnSpc>
                  <a:spcPts val="3168"/>
                </a:lnSpc>
                <a:spcBef>
                  <a:spcPct val="0"/>
                </a:spcBef>
              </a:pPr>
              <a:r>
                <a:rPr lang="en-US" sz="2112">
                  <a:solidFill>
                    <a:srgbClr val="F3F6FA"/>
                  </a:solidFill>
                  <a:latin typeface="Calibri (MS)"/>
                  <a:ea typeface="Calibri (MS)"/>
                  <a:cs typeface="Calibri (MS)"/>
                  <a:sym typeface="Calibri (MS)"/>
                </a:rPr>
                <a:t>DHT11 Sensor</a:t>
              </a:r>
            </a:p>
          </p:txBody>
        </p:sp>
      </p:grpSp>
      <p:grpSp>
        <p:nvGrpSpPr>
          <p:cNvPr id="8" name="Group 8"/>
          <p:cNvGrpSpPr/>
          <p:nvPr/>
        </p:nvGrpSpPr>
        <p:grpSpPr>
          <a:xfrm>
            <a:off x="12404742" y="3678881"/>
            <a:ext cx="5154594" cy="896700"/>
            <a:chOff x="0" y="0"/>
            <a:chExt cx="6872792" cy="1195600"/>
          </a:xfrm>
        </p:grpSpPr>
        <p:sp>
          <p:nvSpPr>
            <p:cNvPr id="9" name="TextBox 9"/>
            <p:cNvSpPr txBox="1"/>
            <p:nvPr/>
          </p:nvSpPr>
          <p:spPr>
            <a:xfrm>
              <a:off x="0" y="-133350"/>
              <a:ext cx="6872792" cy="656482"/>
            </a:xfrm>
            <a:prstGeom prst="rect">
              <a:avLst/>
            </a:prstGeom>
          </p:spPr>
          <p:txBody>
            <a:bodyPr lIns="0" tIns="0" rIns="0" bIns="0" rtlCol="0" anchor="t">
              <a:spAutoFit/>
            </a:bodyPr>
            <a:lstStyle/>
            <a:p>
              <a:pPr marL="0" lvl="0" indent="0" algn="l">
                <a:lnSpc>
                  <a:spcPts val="3960"/>
                </a:lnSpc>
                <a:spcBef>
                  <a:spcPct val="0"/>
                </a:spcBef>
              </a:pPr>
              <a:r>
                <a:rPr lang="en-US" sz="2640" b="1" u="none">
                  <a:solidFill>
                    <a:srgbClr val="F3F6FA"/>
                  </a:solidFill>
                  <a:latin typeface="Calibri (MS) Bold"/>
                  <a:ea typeface="Calibri (MS) Bold"/>
                  <a:cs typeface="Calibri (MS) Bold"/>
                  <a:sym typeface="Calibri (MS) Bold"/>
                </a:rPr>
                <a:t>Detects harmful gases</a:t>
              </a:r>
            </a:p>
          </p:txBody>
        </p:sp>
        <p:sp>
          <p:nvSpPr>
            <p:cNvPr id="10" name="TextBox 10"/>
            <p:cNvSpPr txBox="1"/>
            <p:nvPr/>
          </p:nvSpPr>
          <p:spPr>
            <a:xfrm>
              <a:off x="0" y="661589"/>
              <a:ext cx="6872792" cy="534011"/>
            </a:xfrm>
            <a:prstGeom prst="rect">
              <a:avLst/>
            </a:prstGeom>
          </p:spPr>
          <p:txBody>
            <a:bodyPr lIns="0" tIns="0" rIns="0" bIns="0" rtlCol="0" anchor="t">
              <a:spAutoFit/>
            </a:bodyPr>
            <a:lstStyle/>
            <a:p>
              <a:pPr marL="0" lvl="0" indent="0" algn="l">
                <a:lnSpc>
                  <a:spcPts val="3168"/>
                </a:lnSpc>
                <a:spcBef>
                  <a:spcPct val="0"/>
                </a:spcBef>
              </a:pPr>
              <a:r>
                <a:rPr lang="en-US" sz="2112">
                  <a:solidFill>
                    <a:srgbClr val="F3F6FA"/>
                  </a:solidFill>
                  <a:latin typeface="Calibri (MS)"/>
                  <a:ea typeface="Calibri (MS)"/>
                  <a:cs typeface="Calibri (MS)"/>
                  <a:sym typeface="Calibri (MS)"/>
                </a:rPr>
                <a:t>Gas Sensor (MQ series)</a:t>
              </a:r>
            </a:p>
          </p:txBody>
        </p:sp>
      </p:grpSp>
      <p:grpSp>
        <p:nvGrpSpPr>
          <p:cNvPr id="11" name="Group 11"/>
          <p:cNvGrpSpPr/>
          <p:nvPr/>
        </p:nvGrpSpPr>
        <p:grpSpPr>
          <a:xfrm>
            <a:off x="1028700" y="6699799"/>
            <a:ext cx="5154594" cy="944989"/>
            <a:chOff x="0" y="0"/>
            <a:chExt cx="6872792" cy="1259986"/>
          </a:xfrm>
        </p:grpSpPr>
        <p:sp>
          <p:nvSpPr>
            <p:cNvPr id="12" name="TextBox 12"/>
            <p:cNvSpPr txBox="1"/>
            <p:nvPr/>
          </p:nvSpPr>
          <p:spPr>
            <a:xfrm>
              <a:off x="0" y="-133350"/>
              <a:ext cx="6872792" cy="656482"/>
            </a:xfrm>
            <a:prstGeom prst="rect">
              <a:avLst/>
            </a:prstGeom>
          </p:spPr>
          <p:txBody>
            <a:bodyPr lIns="0" tIns="0" rIns="0" bIns="0" rtlCol="0" anchor="t">
              <a:spAutoFit/>
            </a:bodyPr>
            <a:lstStyle/>
            <a:p>
              <a:pPr marL="0" lvl="0" indent="0" algn="l">
                <a:lnSpc>
                  <a:spcPts val="3960"/>
                </a:lnSpc>
                <a:spcBef>
                  <a:spcPct val="0"/>
                </a:spcBef>
              </a:pPr>
              <a:r>
                <a:rPr lang="en-US" sz="2640" b="1" u="none" strike="noStrike">
                  <a:solidFill>
                    <a:srgbClr val="F3F6FA"/>
                  </a:solidFill>
                  <a:latin typeface="Calibri (MS) Bold"/>
                  <a:ea typeface="Calibri (MS) Bold"/>
                  <a:cs typeface="Calibri (MS) Bold"/>
                  <a:sym typeface="Calibri (MS) Bold"/>
                </a:rPr>
                <a:t>Represents door open/close status</a:t>
              </a:r>
            </a:p>
          </p:txBody>
        </p:sp>
        <p:sp>
          <p:nvSpPr>
            <p:cNvPr id="13" name="TextBox 13"/>
            <p:cNvSpPr txBox="1"/>
            <p:nvPr/>
          </p:nvSpPr>
          <p:spPr>
            <a:xfrm>
              <a:off x="0" y="725975"/>
              <a:ext cx="6872792" cy="534011"/>
            </a:xfrm>
            <a:prstGeom prst="rect">
              <a:avLst/>
            </a:prstGeom>
          </p:spPr>
          <p:txBody>
            <a:bodyPr lIns="0" tIns="0" rIns="0" bIns="0" rtlCol="0" anchor="t">
              <a:spAutoFit/>
            </a:bodyPr>
            <a:lstStyle/>
            <a:p>
              <a:pPr marL="0" lvl="0" indent="0" algn="l">
                <a:lnSpc>
                  <a:spcPts val="3168"/>
                </a:lnSpc>
                <a:spcBef>
                  <a:spcPct val="0"/>
                </a:spcBef>
              </a:pPr>
              <a:r>
                <a:rPr lang="en-US" sz="2112" u="none" strike="noStrike">
                  <a:solidFill>
                    <a:srgbClr val="F3F6FA"/>
                  </a:solidFill>
                  <a:latin typeface="Calibri (MS)"/>
                  <a:ea typeface="Calibri (MS)"/>
                  <a:cs typeface="Calibri (MS)"/>
                  <a:sym typeface="Calibri (MS)"/>
                </a:rPr>
                <a:t>Push Button</a:t>
              </a:r>
            </a:p>
          </p:txBody>
        </p:sp>
      </p:grpSp>
      <p:grpSp>
        <p:nvGrpSpPr>
          <p:cNvPr id="14" name="Group 14"/>
          <p:cNvGrpSpPr/>
          <p:nvPr/>
        </p:nvGrpSpPr>
        <p:grpSpPr>
          <a:xfrm>
            <a:off x="6817558" y="6699799"/>
            <a:ext cx="5154594" cy="1437940"/>
            <a:chOff x="0" y="0"/>
            <a:chExt cx="6872792" cy="1917254"/>
          </a:xfrm>
        </p:grpSpPr>
        <p:sp>
          <p:nvSpPr>
            <p:cNvPr id="15" name="TextBox 15"/>
            <p:cNvSpPr txBox="1"/>
            <p:nvPr/>
          </p:nvSpPr>
          <p:spPr>
            <a:xfrm>
              <a:off x="0" y="-133350"/>
              <a:ext cx="6872792" cy="1313750"/>
            </a:xfrm>
            <a:prstGeom prst="rect">
              <a:avLst/>
            </a:prstGeom>
          </p:spPr>
          <p:txBody>
            <a:bodyPr lIns="0" tIns="0" rIns="0" bIns="0" rtlCol="0" anchor="t">
              <a:spAutoFit/>
            </a:bodyPr>
            <a:lstStyle/>
            <a:p>
              <a:pPr marL="0" lvl="0" indent="0" algn="l">
                <a:lnSpc>
                  <a:spcPts val="3960"/>
                </a:lnSpc>
                <a:spcBef>
                  <a:spcPct val="0"/>
                </a:spcBef>
              </a:pPr>
              <a:r>
                <a:rPr lang="en-US" sz="2640" b="1" u="none" strike="noStrike">
                  <a:solidFill>
                    <a:srgbClr val="F3F6FA"/>
                  </a:solidFill>
                  <a:latin typeface="Calibri (MS) Bold"/>
                  <a:ea typeface="Calibri (MS) Bold"/>
                  <a:cs typeface="Calibri (MS) Bold"/>
                  <a:sym typeface="Calibri (MS) Bold"/>
                </a:rPr>
                <a:t>Enable communication between components</a:t>
              </a:r>
            </a:p>
          </p:txBody>
        </p:sp>
        <p:sp>
          <p:nvSpPr>
            <p:cNvPr id="16" name="TextBox 16"/>
            <p:cNvSpPr txBox="1"/>
            <p:nvPr/>
          </p:nvSpPr>
          <p:spPr>
            <a:xfrm>
              <a:off x="0" y="1383243"/>
              <a:ext cx="6872792" cy="534011"/>
            </a:xfrm>
            <a:prstGeom prst="rect">
              <a:avLst/>
            </a:prstGeom>
          </p:spPr>
          <p:txBody>
            <a:bodyPr lIns="0" tIns="0" rIns="0" bIns="0" rtlCol="0" anchor="t">
              <a:spAutoFit/>
            </a:bodyPr>
            <a:lstStyle/>
            <a:p>
              <a:pPr marL="0" lvl="0" indent="0" algn="l">
                <a:lnSpc>
                  <a:spcPts val="3168"/>
                </a:lnSpc>
                <a:spcBef>
                  <a:spcPct val="0"/>
                </a:spcBef>
              </a:pPr>
              <a:r>
                <a:rPr lang="en-US" sz="2112" u="none" strike="noStrike">
                  <a:solidFill>
                    <a:srgbClr val="F3F6FA"/>
                  </a:solidFill>
                  <a:latin typeface="Calibri (MS)"/>
                  <a:ea typeface="Calibri (MS)"/>
                  <a:cs typeface="Calibri (MS)"/>
                  <a:sym typeface="Calibri (MS)"/>
                </a:rPr>
                <a:t>Connecting Wires</a:t>
              </a:r>
            </a:p>
          </p:txBody>
        </p:sp>
      </p:grpSp>
      <p:sp>
        <p:nvSpPr>
          <p:cNvPr id="17" name="TextBox 17"/>
          <p:cNvSpPr txBox="1"/>
          <p:nvPr/>
        </p:nvSpPr>
        <p:spPr>
          <a:xfrm>
            <a:off x="1370387" y="1636386"/>
            <a:ext cx="7659313" cy="1095375"/>
          </a:xfrm>
          <a:prstGeom prst="rect">
            <a:avLst/>
          </a:prstGeom>
        </p:spPr>
        <p:txBody>
          <a:bodyPr lIns="0" tIns="0" rIns="0" bIns="0" rtlCol="0" anchor="t">
            <a:spAutoFit/>
          </a:bodyPr>
          <a:lstStyle/>
          <a:p>
            <a:pPr marL="0" lvl="0" indent="0" algn="l">
              <a:lnSpc>
                <a:spcPts val="8640"/>
              </a:lnSpc>
              <a:spcBef>
                <a:spcPct val="0"/>
              </a:spcBef>
            </a:pPr>
            <a:r>
              <a:rPr lang="en-US" sz="7200" spc="-43">
                <a:solidFill>
                  <a:srgbClr val="F3F6FA"/>
                </a:solidFill>
                <a:latin typeface="TT Rounds Condensed"/>
                <a:ea typeface="TT Rounds Condensed"/>
                <a:cs typeface="TT Rounds Condensed"/>
                <a:sym typeface="TT Rounds Condensed"/>
              </a:rPr>
              <a:t>COMPONENTS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FLOW DIAGRAM</a:t>
              </a:r>
            </a:p>
          </p:txBody>
        </p:sp>
      </p:grpSp>
      <p:grpSp>
        <p:nvGrpSpPr>
          <p:cNvPr id="5" name="Group 5"/>
          <p:cNvGrpSpPr/>
          <p:nvPr/>
        </p:nvGrpSpPr>
        <p:grpSpPr>
          <a:xfrm>
            <a:off x="1578083" y="2167814"/>
            <a:ext cx="14005836" cy="7097630"/>
            <a:chOff x="0" y="0"/>
            <a:chExt cx="18674448" cy="9463507"/>
          </a:xfrm>
        </p:grpSpPr>
        <p:sp>
          <p:nvSpPr>
            <p:cNvPr id="6" name="Freeform 6"/>
            <p:cNvSpPr/>
            <p:nvPr/>
          </p:nvSpPr>
          <p:spPr>
            <a:xfrm>
              <a:off x="0" y="0"/>
              <a:ext cx="18674462" cy="9463532"/>
            </a:xfrm>
            <a:custGeom>
              <a:avLst/>
              <a:gdLst/>
              <a:ahLst/>
              <a:cxnLst/>
              <a:rect l="l" t="t" r="r" b="b"/>
              <a:pathLst>
                <a:path w="18674462" h="9463532">
                  <a:moveTo>
                    <a:pt x="0" y="0"/>
                  </a:moveTo>
                  <a:lnTo>
                    <a:pt x="18674462" y="0"/>
                  </a:lnTo>
                  <a:lnTo>
                    <a:pt x="18674462" y="9463532"/>
                  </a:lnTo>
                  <a:lnTo>
                    <a:pt x="0" y="9463532"/>
                  </a:lnTo>
                  <a:lnTo>
                    <a:pt x="0" y="0"/>
                  </a:lnTo>
                  <a:close/>
                </a:path>
              </a:pathLst>
            </a:custGeom>
            <a:blipFill>
              <a:blip r:embed="rId3"/>
              <a:stretch>
                <a:fillRect/>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8985939" y="2453706"/>
            <a:ext cx="8091029" cy="5804665"/>
            <a:chOff x="0" y="0"/>
            <a:chExt cx="10788038" cy="7739553"/>
          </a:xfrm>
        </p:grpSpPr>
        <p:sp>
          <p:nvSpPr>
            <p:cNvPr id="3" name="TextBox 3"/>
            <p:cNvSpPr txBox="1"/>
            <p:nvPr/>
          </p:nvSpPr>
          <p:spPr>
            <a:xfrm>
              <a:off x="0" y="1851643"/>
              <a:ext cx="10788038" cy="5887910"/>
            </a:xfrm>
            <a:prstGeom prst="rect">
              <a:avLst/>
            </a:prstGeom>
          </p:spPr>
          <p:txBody>
            <a:bodyPr lIns="0" tIns="0" rIns="0" bIns="0" rtlCol="0" anchor="t">
              <a:spAutoFit/>
            </a:bodyPr>
            <a:lstStyle/>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Timestamp – Date &amp; time of observation</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Temperature – Internal temperature (°C)</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Humidity – Relative humidity (%)</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Door – Open (1) / Closed (0)</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Door_Duration – Time the door remains open</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Cooling_Status – Cooling ON (1) / OFF (0)</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Outside_Temperature – External temperature</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Temp_Trend – Increasing / Decreasing / Stable</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Load_Level – Storage load (Low/Medium/High)</a:t>
              </a:r>
            </a:p>
            <a:p>
              <a:pPr marL="500772" lvl="1" indent="-250386" algn="l">
                <a:lnSpc>
                  <a:spcPts val="3479"/>
                </a:lnSpc>
                <a:buFont typeface="Arial"/>
                <a:buChar char="•"/>
              </a:pPr>
              <a:r>
                <a:rPr lang="en-US" sz="2319">
                  <a:solidFill>
                    <a:srgbClr val="F3F6FA"/>
                  </a:solidFill>
                  <a:latin typeface="Calibri (MS)"/>
                  <a:ea typeface="Calibri (MS)"/>
                  <a:cs typeface="Calibri (MS)"/>
                  <a:sym typeface="Calibri (MS)"/>
                </a:rPr>
                <a:t>Risk (Target) – 0: No Spoilage, 1: Spoilage</a:t>
              </a:r>
            </a:p>
          </p:txBody>
        </p:sp>
        <p:sp>
          <p:nvSpPr>
            <p:cNvPr id="4" name="TextBox 4"/>
            <p:cNvSpPr txBox="1"/>
            <p:nvPr/>
          </p:nvSpPr>
          <p:spPr>
            <a:xfrm>
              <a:off x="0" y="-85725"/>
              <a:ext cx="10788038" cy="1299548"/>
            </a:xfrm>
            <a:prstGeom prst="rect">
              <a:avLst/>
            </a:prstGeom>
          </p:spPr>
          <p:txBody>
            <a:bodyPr lIns="0" tIns="0" rIns="0" bIns="0" rtlCol="0" anchor="t">
              <a:spAutoFit/>
            </a:bodyPr>
            <a:lstStyle/>
            <a:p>
              <a:pPr marL="0" lvl="0" indent="0" algn="l">
                <a:lnSpc>
                  <a:spcPts val="3733"/>
                </a:lnSpc>
                <a:spcBef>
                  <a:spcPct val="0"/>
                </a:spcBef>
              </a:pPr>
              <a:r>
                <a:rPr lang="en-US" sz="2871">
                  <a:solidFill>
                    <a:srgbClr val="F3F6FA"/>
                  </a:solidFill>
                  <a:latin typeface="Calibri (MS)"/>
                  <a:ea typeface="Calibri (MS)"/>
                  <a:cs typeface="Calibri (MS)"/>
                  <a:sym typeface="Calibri (MS)"/>
                </a:rPr>
                <a:t>The dataset contains 10 key features representing cold storage conditions:</a:t>
              </a:r>
            </a:p>
          </p:txBody>
        </p:sp>
      </p:grpSp>
      <p:sp>
        <p:nvSpPr>
          <p:cNvPr id="5" name="TextBox 5"/>
          <p:cNvSpPr txBox="1"/>
          <p:nvPr/>
        </p:nvSpPr>
        <p:spPr>
          <a:xfrm>
            <a:off x="1639812" y="3386138"/>
            <a:ext cx="6491853" cy="3514725"/>
          </a:xfrm>
          <a:prstGeom prst="rect">
            <a:avLst/>
          </a:prstGeom>
        </p:spPr>
        <p:txBody>
          <a:bodyPr lIns="0" tIns="0" rIns="0" bIns="0" rtlCol="0" anchor="t">
            <a:spAutoFit/>
          </a:bodyPr>
          <a:lstStyle/>
          <a:p>
            <a:pPr marL="0" lvl="0" indent="0" algn="l">
              <a:lnSpc>
                <a:spcPts val="9270"/>
              </a:lnSpc>
              <a:spcBef>
                <a:spcPct val="0"/>
              </a:spcBef>
            </a:pPr>
            <a:r>
              <a:rPr lang="en-US" sz="7725" spc="-47">
                <a:solidFill>
                  <a:srgbClr val="F3F6FA"/>
                </a:solidFill>
                <a:latin typeface="TT Rounds Condensed"/>
                <a:ea typeface="TT Rounds Condensed"/>
                <a:cs typeface="TT Rounds Condensed"/>
                <a:sym typeface="TT Rounds Condensed"/>
              </a:rPr>
              <a:t>DATASET GENERATION AND ML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Freeform 2"/>
          <p:cNvSpPr/>
          <p:nvPr/>
        </p:nvSpPr>
        <p:spPr>
          <a:xfrm>
            <a:off x="1413853" y="1918110"/>
            <a:ext cx="15043554" cy="7552065"/>
          </a:xfrm>
          <a:custGeom>
            <a:avLst/>
            <a:gdLst/>
            <a:ahLst/>
            <a:cxnLst/>
            <a:rect l="l" t="t" r="r" b="b"/>
            <a:pathLst>
              <a:path w="15043554" h="7552065">
                <a:moveTo>
                  <a:pt x="0" y="0"/>
                </a:moveTo>
                <a:lnTo>
                  <a:pt x="15043554" y="0"/>
                </a:lnTo>
                <a:lnTo>
                  <a:pt x="15043554" y="7552066"/>
                </a:lnTo>
                <a:lnTo>
                  <a:pt x="0" y="7552066"/>
                </a:lnTo>
                <a:lnTo>
                  <a:pt x="0" y="0"/>
                </a:lnTo>
                <a:close/>
              </a:path>
            </a:pathLst>
          </a:custGeom>
          <a:blipFill>
            <a:blip r:embed="rId2"/>
            <a:stretch>
              <a:fillRect t="-14614" b="-14614"/>
            </a:stretch>
          </a:blipFill>
        </p:spPr>
      </p:sp>
      <p:grpSp>
        <p:nvGrpSpPr>
          <p:cNvPr id="3" name="Group 3"/>
          <p:cNvGrpSpPr/>
          <p:nvPr/>
        </p:nvGrpSpPr>
        <p:grpSpPr>
          <a:xfrm>
            <a:off x="1257300" y="215847"/>
            <a:ext cx="15773400" cy="1988345"/>
            <a:chOff x="0" y="0"/>
            <a:chExt cx="21031200" cy="2651126"/>
          </a:xfrm>
        </p:grpSpPr>
        <p:sp>
          <p:nvSpPr>
            <p:cNvPr id="4" name="Freeform 4"/>
            <p:cNvSpPr/>
            <p:nvPr/>
          </p:nvSpPr>
          <p:spPr>
            <a:xfrm>
              <a:off x="0" y="0"/>
              <a:ext cx="21031200" cy="2651127"/>
            </a:xfrm>
            <a:custGeom>
              <a:avLst/>
              <a:gdLst/>
              <a:ahLst/>
              <a:cxnLst/>
              <a:rect l="l" t="t" r="r" b="b"/>
              <a:pathLst>
                <a:path w="21031200" h="2651127">
                  <a:moveTo>
                    <a:pt x="0" y="0"/>
                  </a:moveTo>
                  <a:lnTo>
                    <a:pt x="21031200" y="0"/>
                  </a:lnTo>
                  <a:lnTo>
                    <a:pt x="21031200" y="2651127"/>
                  </a:lnTo>
                  <a:lnTo>
                    <a:pt x="0" y="2651127"/>
                  </a:lnTo>
                  <a:close/>
                </a:path>
              </a:pathLst>
            </a:custGeom>
            <a:blipFill>
              <a:blip r:embed="rId3">
                <a:alphaModFix amt="0"/>
              </a:blip>
              <a:stretch>
                <a:fillRect t="-104573" b="-104573"/>
              </a:stretch>
            </a:blipFill>
          </p:spPr>
        </p:sp>
        <p:sp>
          <p:nvSpPr>
            <p:cNvPr id="5" name="TextBox 5"/>
            <p:cNvSpPr txBox="1"/>
            <p:nvPr/>
          </p:nvSpPr>
          <p:spPr>
            <a:xfrm>
              <a:off x="0" y="66675"/>
              <a:ext cx="21031200" cy="2584451"/>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DATASET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ML MODELS</a:t>
              </a:r>
            </a:p>
          </p:txBody>
        </p:sp>
      </p:grpSp>
      <p:sp>
        <p:nvSpPr>
          <p:cNvPr id="5" name="Freeform 5"/>
          <p:cNvSpPr/>
          <p:nvPr/>
        </p:nvSpPr>
        <p:spPr>
          <a:xfrm>
            <a:off x="1257300" y="2080872"/>
            <a:ext cx="13377413" cy="7954362"/>
          </a:xfrm>
          <a:custGeom>
            <a:avLst/>
            <a:gdLst/>
            <a:ahLst/>
            <a:cxnLst/>
            <a:rect l="l" t="t" r="r" b="b"/>
            <a:pathLst>
              <a:path w="13377413" h="7954362">
                <a:moveTo>
                  <a:pt x="0" y="0"/>
                </a:moveTo>
                <a:lnTo>
                  <a:pt x="13377413" y="0"/>
                </a:lnTo>
                <a:lnTo>
                  <a:pt x="13377413" y="7954362"/>
                </a:lnTo>
                <a:lnTo>
                  <a:pt x="0" y="7954362"/>
                </a:lnTo>
                <a:lnTo>
                  <a:pt x="0" y="0"/>
                </a:lnTo>
                <a:close/>
              </a:path>
            </a:pathLst>
          </a:custGeom>
          <a:blipFill>
            <a:blip r:embed="rId3"/>
            <a:stretch>
              <a:fillRect r="-356"/>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FLOW DIAGRAM</a:t>
              </a:r>
            </a:p>
          </p:txBody>
        </p:sp>
      </p:grpSp>
      <p:grpSp>
        <p:nvGrpSpPr>
          <p:cNvPr id="5" name="Group 5"/>
          <p:cNvGrpSpPr/>
          <p:nvPr/>
        </p:nvGrpSpPr>
        <p:grpSpPr>
          <a:xfrm>
            <a:off x="1707519" y="2252257"/>
            <a:ext cx="12055425" cy="7488342"/>
            <a:chOff x="0" y="0"/>
            <a:chExt cx="14010371" cy="8702675"/>
          </a:xfrm>
        </p:grpSpPr>
        <p:sp>
          <p:nvSpPr>
            <p:cNvPr id="6" name="Freeform 6"/>
            <p:cNvSpPr/>
            <p:nvPr/>
          </p:nvSpPr>
          <p:spPr>
            <a:xfrm>
              <a:off x="0" y="0"/>
              <a:ext cx="14010384" cy="8702675"/>
            </a:xfrm>
            <a:custGeom>
              <a:avLst/>
              <a:gdLst/>
              <a:ahLst/>
              <a:cxnLst/>
              <a:rect l="l" t="t" r="r" b="b"/>
              <a:pathLst>
                <a:path w="14010384" h="8702675">
                  <a:moveTo>
                    <a:pt x="0" y="0"/>
                  </a:moveTo>
                  <a:lnTo>
                    <a:pt x="14010384" y="0"/>
                  </a:lnTo>
                  <a:lnTo>
                    <a:pt x="14010384" y="8702675"/>
                  </a:lnTo>
                  <a:lnTo>
                    <a:pt x="0" y="8702675"/>
                  </a:lnTo>
                  <a:lnTo>
                    <a:pt x="0" y="0"/>
                  </a:lnTo>
                  <a:close/>
                </a:path>
              </a:pathLst>
            </a:custGeom>
            <a:blipFill>
              <a:blip r:embed="rId3"/>
              <a:stretch>
                <a:fillRect l="-354" r="-354"/>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TextBox 2"/>
          <p:cNvSpPr txBox="1"/>
          <p:nvPr/>
        </p:nvSpPr>
        <p:spPr>
          <a:xfrm>
            <a:off x="1671305" y="1416427"/>
            <a:ext cx="12775904" cy="1226820"/>
          </a:xfrm>
          <a:prstGeom prst="rect">
            <a:avLst/>
          </a:prstGeom>
        </p:spPr>
        <p:txBody>
          <a:bodyPr lIns="0" tIns="0" rIns="0" bIns="0" rtlCol="0" anchor="t">
            <a:spAutoFit/>
          </a:bodyPr>
          <a:lstStyle/>
          <a:p>
            <a:pPr marL="0" lvl="0" indent="0" algn="l">
              <a:lnSpc>
                <a:spcPts val="10080"/>
              </a:lnSpc>
              <a:spcBef>
                <a:spcPct val="0"/>
              </a:spcBef>
            </a:pPr>
            <a:r>
              <a:rPr lang="en-US" sz="7200" b="1" spc="-43">
                <a:solidFill>
                  <a:srgbClr val="F3F6FA"/>
                </a:solidFill>
                <a:latin typeface="TT Rounds Condensed Bold"/>
                <a:ea typeface="TT Rounds Condensed Bold"/>
                <a:cs typeface="TT Rounds Condensed Bold"/>
                <a:sym typeface="TT Rounds Condensed Bold"/>
              </a:rPr>
              <a:t>LIVE DATASET GENERATION</a:t>
            </a:r>
          </a:p>
        </p:txBody>
      </p:sp>
      <p:sp>
        <p:nvSpPr>
          <p:cNvPr id="3" name="TextBox 3"/>
          <p:cNvSpPr txBox="1"/>
          <p:nvPr/>
        </p:nvSpPr>
        <p:spPr>
          <a:xfrm>
            <a:off x="1671305" y="3121558"/>
            <a:ext cx="12775904" cy="5603834"/>
          </a:xfrm>
          <a:prstGeom prst="rect">
            <a:avLst/>
          </a:prstGeom>
        </p:spPr>
        <p:txBody>
          <a:bodyPr lIns="0" tIns="0" rIns="0" bIns="0" rtlCol="0" anchor="t">
            <a:spAutoFit/>
          </a:bodyPr>
          <a:lstStyle/>
          <a:p>
            <a:pPr marL="0" lvl="0" indent="0" algn="l">
              <a:lnSpc>
                <a:spcPts val="2977"/>
              </a:lnSpc>
              <a:spcBef>
                <a:spcPct val="0"/>
              </a:spcBef>
            </a:pPr>
            <a:r>
              <a:rPr lang="en-US" sz="2126">
                <a:solidFill>
                  <a:srgbClr val="F3F6FA"/>
                </a:solidFill>
                <a:latin typeface="Calibri (MS)"/>
                <a:ea typeface="Calibri (MS)"/>
                <a:cs typeface="Calibri (MS)"/>
                <a:sym typeface="Calibri (MS)"/>
              </a:rPr>
              <a:t>Dataset Details</a:t>
            </a:r>
          </a:p>
          <a:p>
            <a:pPr marL="0" lvl="0" indent="0" algn="l">
              <a:lnSpc>
                <a:spcPts val="2977"/>
              </a:lnSpc>
              <a:spcBef>
                <a:spcPct val="0"/>
              </a:spcBef>
            </a:pPr>
            <a:endParaRPr lang="en-US" sz="2126">
              <a:solidFill>
                <a:srgbClr val="F3F6FA"/>
              </a:solidFill>
              <a:latin typeface="Calibri (MS)"/>
              <a:ea typeface="Calibri (MS)"/>
              <a:cs typeface="Calibri (MS)"/>
              <a:sym typeface="Calibri (MS)"/>
            </a:endParaRP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Total Records: 101 entries</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Total Columns: 7 parameters</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Data Type: Time-series (live streaming data)</a:t>
            </a:r>
          </a:p>
          <a:p>
            <a:pPr marL="0" lvl="0" indent="0" algn="l">
              <a:lnSpc>
                <a:spcPts val="2977"/>
              </a:lnSpc>
              <a:spcBef>
                <a:spcPct val="0"/>
              </a:spcBef>
            </a:pPr>
            <a:endParaRPr lang="en-US" sz="2126">
              <a:solidFill>
                <a:srgbClr val="F3F6FA"/>
              </a:solidFill>
              <a:latin typeface="Calibri (MS)"/>
              <a:ea typeface="Calibri (MS)"/>
              <a:cs typeface="Calibri (MS)"/>
              <a:sym typeface="Calibri (MS)"/>
            </a:endParaRPr>
          </a:p>
          <a:p>
            <a:pPr marL="0" lvl="0" indent="0" algn="l">
              <a:lnSpc>
                <a:spcPts val="2977"/>
              </a:lnSpc>
              <a:spcBef>
                <a:spcPct val="0"/>
              </a:spcBef>
            </a:pPr>
            <a:r>
              <a:rPr lang="en-US" sz="2126">
                <a:solidFill>
                  <a:srgbClr val="F3F6FA"/>
                </a:solidFill>
                <a:latin typeface="Calibri (MS)"/>
                <a:ea typeface="Calibri (MS)"/>
                <a:cs typeface="Calibri (MS)"/>
                <a:sym typeface="Calibri (MS)"/>
              </a:rPr>
              <a:t>Attributes</a:t>
            </a:r>
          </a:p>
          <a:p>
            <a:pPr marL="0" lvl="0" indent="0" algn="l">
              <a:lnSpc>
                <a:spcPts val="2977"/>
              </a:lnSpc>
              <a:spcBef>
                <a:spcPct val="0"/>
              </a:spcBef>
            </a:pPr>
            <a:endParaRPr lang="en-US" sz="2126">
              <a:solidFill>
                <a:srgbClr val="F3F6FA"/>
              </a:solidFill>
              <a:latin typeface="Calibri (MS)"/>
              <a:ea typeface="Calibri (MS)"/>
              <a:cs typeface="Calibri (MS)"/>
              <a:sym typeface="Calibri (MS)"/>
            </a:endParaRP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Timestamp - Date and time when data is recorded</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Temperature -  Measures temperature values (°C)</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Humidity - Measures moisture level in the environment (%)</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Door - Indicates door status (Open/Closed or 0/1)</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Gas - Gas sensor reading (used for leakage detection)</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Prediction - Output from the model (0 or 1) , 0 = Normal , 1 = Alert condition</a:t>
            </a:r>
          </a:p>
          <a:p>
            <a:pPr marL="459138" lvl="1" indent="-229569" algn="l">
              <a:lnSpc>
                <a:spcPts val="2977"/>
              </a:lnSpc>
              <a:spcBef>
                <a:spcPct val="0"/>
              </a:spcBef>
              <a:buFont typeface="Arial"/>
              <a:buChar char="•"/>
            </a:pPr>
            <a:r>
              <a:rPr lang="en-US" sz="2126">
                <a:solidFill>
                  <a:srgbClr val="F3F6FA"/>
                </a:solidFill>
                <a:latin typeface="Calibri (MS)"/>
                <a:ea typeface="Calibri (MS)"/>
                <a:cs typeface="Calibri (MS)"/>
                <a:sym typeface="Calibri (MS)"/>
              </a:rPr>
              <a:t>Spoiled_Food - Final status , YES = Food spoiled , NO = Safe</a:t>
            </a:r>
          </a:p>
        </p:txBody>
      </p:sp>
      <p:grpSp>
        <p:nvGrpSpPr>
          <p:cNvPr id="4" name="Group 4"/>
          <p:cNvGrpSpPr/>
          <p:nvPr/>
        </p:nvGrpSpPr>
        <p:grpSpPr>
          <a:xfrm>
            <a:off x="16410739" y="8409739"/>
            <a:ext cx="1877261" cy="1877261"/>
            <a:chOff x="0" y="0"/>
            <a:chExt cx="2503014" cy="2503014"/>
          </a:xfrm>
        </p:grpSpPr>
        <p:grpSp>
          <p:nvGrpSpPr>
            <p:cNvPr id="5" name="Group 5"/>
            <p:cNvGrpSpPr/>
            <p:nvPr/>
          </p:nvGrpSpPr>
          <p:grpSpPr>
            <a:xfrm>
              <a:off x="1251507" y="1251507"/>
              <a:ext cx="1251507" cy="1251507"/>
              <a:chOff x="0" y="0"/>
              <a:chExt cx="1913890" cy="1913890"/>
            </a:xfrm>
          </p:grpSpPr>
          <p:sp>
            <p:nvSpPr>
              <p:cNvPr id="6" name="Freeform 6"/>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7" name="Group 7"/>
            <p:cNvGrpSpPr/>
            <p:nvPr/>
          </p:nvGrpSpPr>
          <p:grpSpPr>
            <a:xfrm>
              <a:off x="1251507" y="0"/>
              <a:ext cx="1251507" cy="1251507"/>
              <a:chOff x="0" y="0"/>
              <a:chExt cx="1913890" cy="1913890"/>
            </a:xfrm>
          </p:grpSpPr>
          <p:sp>
            <p:nvSpPr>
              <p:cNvPr id="8" name="Freeform 8"/>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9" name="Group 9"/>
            <p:cNvGrpSpPr/>
            <p:nvPr/>
          </p:nvGrpSpPr>
          <p:grpSpPr>
            <a:xfrm>
              <a:off x="0" y="1251507"/>
              <a:ext cx="1251507" cy="1251507"/>
              <a:chOff x="0" y="0"/>
              <a:chExt cx="1913890" cy="1913890"/>
            </a:xfrm>
          </p:grpSpPr>
          <p:sp>
            <p:nvSpPr>
              <p:cNvPr id="10" name="Freeform 10"/>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POWERBI DASHBOARD</a:t>
              </a:r>
            </a:p>
          </p:txBody>
        </p:sp>
      </p:grpSp>
      <p:sp>
        <p:nvSpPr>
          <p:cNvPr id="5" name="Freeform 5"/>
          <p:cNvSpPr/>
          <p:nvPr/>
        </p:nvSpPr>
        <p:spPr>
          <a:xfrm>
            <a:off x="1636437" y="2226314"/>
            <a:ext cx="14028292" cy="7250811"/>
          </a:xfrm>
          <a:custGeom>
            <a:avLst/>
            <a:gdLst/>
            <a:ahLst/>
            <a:cxnLst/>
            <a:rect l="l" t="t" r="r" b="b"/>
            <a:pathLst>
              <a:path w="14028292" h="7250811">
                <a:moveTo>
                  <a:pt x="0" y="0"/>
                </a:moveTo>
                <a:lnTo>
                  <a:pt x="14028291" y="0"/>
                </a:lnTo>
                <a:lnTo>
                  <a:pt x="14028291" y="7250810"/>
                </a:lnTo>
                <a:lnTo>
                  <a:pt x="0" y="7250810"/>
                </a:lnTo>
                <a:lnTo>
                  <a:pt x="0" y="0"/>
                </a:lnTo>
                <a:close/>
              </a:path>
            </a:pathLst>
          </a:custGeom>
          <a:blipFill>
            <a:blip r:embed="rId3"/>
            <a:stretch>
              <a:fillRect t="-3688" b="-3688"/>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grpSp>
        <p:nvGrpSpPr>
          <p:cNvPr id="2" name="Group 2"/>
          <p:cNvGrpSpPr/>
          <p:nvPr/>
        </p:nvGrpSpPr>
        <p:grpSpPr>
          <a:xfrm>
            <a:off x="1257300" y="547688"/>
            <a:ext cx="15773400" cy="1988344"/>
            <a:chOff x="0" y="0"/>
            <a:chExt cx="21031200" cy="2651125"/>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blipFill>
              <a:blip r:embed="rId2">
                <a:alphaModFix amt="0"/>
              </a:blip>
              <a:stretch>
                <a:fillRect t="-104573" b="-104573"/>
              </a:stretch>
            </a:blipFill>
          </p:spPr>
        </p:sp>
        <p:sp>
          <p:nvSpPr>
            <p:cNvPr id="4" name="TextBox 4"/>
            <p:cNvSpPr txBox="1"/>
            <p:nvPr/>
          </p:nvSpPr>
          <p:spPr>
            <a:xfrm>
              <a:off x="0" y="66675"/>
              <a:ext cx="21031200" cy="2584450"/>
            </a:xfrm>
            <a:prstGeom prst="rect">
              <a:avLst/>
            </a:prstGeom>
          </p:spPr>
          <p:txBody>
            <a:bodyPr lIns="0" tIns="0" rIns="0" bIns="0" rtlCol="0" anchor="ctr"/>
            <a:lstStyle/>
            <a:p>
              <a:pPr algn="l">
                <a:lnSpc>
                  <a:spcPts val="7128"/>
                </a:lnSpc>
              </a:pPr>
              <a:r>
                <a:rPr lang="en-US" sz="6600" b="1" spc="-40">
                  <a:solidFill>
                    <a:srgbClr val="F3F6FA"/>
                  </a:solidFill>
                  <a:latin typeface="TT Rounds Condensed Bold"/>
                  <a:ea typeface="TT Rounds Condensed Bold"/>
                  <a:cs typeface="TT Rounds Condensed Bold"/>
                  <a:sym typeface="TT Rounds Condensed Bold"/>
                </a:rPr>
                <a:t>POWERBI DASHBOARD</a:t>
              </a:r>
            </a:p>
          </p:txBody>
        </p:sp>
      </p:grpSp>
      <p:sp>
        <p:nvSpPr>
          <p:cNvPr id="5" name="Freeform 5"/>
          <p:cNvSpPr/>
          <p:nvPr/>
        </p:nvSpPr>
        <p:spPr>
          <a:xfrm>
            <a:off x="1558361" y="2106640"/>
            <a:ext cx="13752136" cy="7682461"/>
          </a:xfrm>
          <a:custGeom>
            <a:avLst/>
            <a:gdLst/>
            <a:ahLst/>
            <a:cxnLst/>
            <a:rect l="l" t="t" r="r" b="b"/>
            <a:pathLst>
              <a:path w="13752136" h="7682461">
                <a:moveTo>
                  <a:pt x="0" y="0"/>
                </a:moveTo>
                <a:lnTo>
                  <a:pt x="13752135" y="0"/>
                </a:lnTo>
                <a:lnTo>
                  <a:pt x="13752135" y="7682461"/>
                </a:lnTo>
                <a:lnTo>
                  <a:pt x="0" y="7682461"/>
                </a:lnTo>
                <a:lnTo>
                  <a:pt x="0" y="0"/>
                </a:lnTo>
                <a:close/>
              </a:path>
            </a:pathLst>
          </a:custGeom>
          <a:blipFill>
            <a:blip r:embed="rId3"/>
            <a:stretch>
              <a:fillRect t="-569" b="-569"/>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AutoShape 2"/>
          <p:cNvSpPr/>
          <p:nvPr/>
        </p:nvSpPr>
        <p:spPr>
          <a:xfrm>
            <a:off x="0" y="2626834"/>
            <a:ext cx="18288000" cy="1532033"/>
          </a:xfrm>
          <a:prstGeom prst="rect">
            <a:avLst/>
          </a:prstGeom>
          <a:solidFill>
            <a:srgbClr val="000000"/>
          </a:solidFill>
        </p:spPr>
      </p:sp>
      <p:sp>
        <p:nvSpPr>
          <p:cNvPr id="3" name="AutoShape 3"/>
          <p:cNvSpPr/>
          <p:nvPr/>
        </p:nvSpPr>
        <p:spPr>
          <a:xfrm>
            <a:off x="0" y="4158867"/>
            <a:ext cx="18288000" cy="1532033"/>
          </a:xfrm>
          <a:prstGeom prst="rect">
            <a:avLst/>
          </a:prstGeom>
          <a:solidFill>
            <a:srgbClr val="000000"/>
          </a:solidFill>
        </p:spPr>
      </p:sp>
      <p:sp>
        <p:nvSpPr>
          <p:cNvPr id="4" name="AutoShape 4"/>
          <p:cNvSpPr/>
          <p:nvPr/>
        </p:nvSpPr>
        <p:spPr>
          <a:xfrm>
            <a:off x="0" y="5690901"/>
            <a:ext cx="18288000" cy="1532033"/>
          </a:xfrm>
          <a:prstGeom prst="rect">
            <a:avLst/>
          </a:prstGeom>
          <a:solidFill>
            <a:srgbClr val="000000"/>
          </a:solidFill>
        </p:spPr>
      </p:sp>
      <p:sp>
        <p:nvSpPr>
          <p:cNvPr id="5" name="AutoShape 5"/>
          <p:cNvSpPr/>
          <p:nvPr/>
        </p:nvSpPr>
        <p:spPr>
          <a:xfrm>
            <a:off x="0" y="7222934"/>
            <a:ext cx="18288000" cy="1532033"/>
          </a:xfrm>
          <a:prstGeom prst="rect">
            <a:avLst/>
          </a:prstGeom>
          <a:solidFill>
            <a:srgbClr val="000000"/>
          </a:solidFill>
        </p:spPr>
      </p:sp>
      <p:sp>
        <p:nvSpPr>
          <p:cNvPr id="6" name="AutoShape 6"/>
          <p:cNvSpPr/>
          <p:nvPr/>
        </p:nvSpPr>
        <p:spPr>
          <a:xfrm>
            <a:off x="0" y="8754967"/>
            <a:ext cx="18288000" cy="1532033"/>
          </a:xfrm>
          <a:prstGeom prst="rect">
            <a:avLst/>
          </a:prstGeom>
          <a:solidFill>
            <a:srgbClr val="000000"/>
          </a:solidFill>
        </p:spPr>
      </p:sp>
      <p:sp>
        <p:nvSpPr>
          <p:cNvPr id="7" name="Freeform 7"/>
          <p:cNvSpPr/>
          <p:nvPr/>
        </p:nvSpPr>
        <p:spPr>
          <a:xfrm>
            <a:off x="1028700" y="2892272"/>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1028700" y="803106"/>
            <a:ext cx="16230600" cy="1057275"/>
          </a:xfrm>
          <a:prstGeom prst="rect">
            <a:avLst/>
          </a:prstGeom>
        </p:spPr>
        <p:txBody>
          <a:bodyPr lIns="0" tIns="0" rIns="0" bIns="0" rtlCol="0" anchor="t">
            <a:spAutoFit/>
          </a:bodyPr>
          <a:lstStyle/>
          <a:p>
            <a:pPr marL="0" lvl="0" indent="0" algn="ctr">
              <a:lnSpc>
                <a:spcPts val="8399"/>
              </a:lnSpc>
            </a:pPr>
            <a:r>
              <a:rPr lang="en-US" sz="6999" b="1" spc="-42">
                <a:solidFill>
                  <a:srgbClr val="F3F6FA"/>
                </a:solidFill>
                <a:latin typeface="TT Rounds Condensed Bold"/>
                <a:ea typeface="TT Rounds Condensed Bold"/>
                <a:cs typeface="TT Rounds Condensed Bold"/>
                <a:sym typeface="TT Rounds Condensed Bold"/>
              </a:rPr>
              <a:t>POWERBI DASHBOARD</a:t>
            </a:r>
          </a:p>
        </p:txBody>
      </p:sp>
      <p:sp>
        <p:nvSpPr>
          <p:cNvPr id="9" name="TextBox 9"/>
          <p:cNvSpPr txBox="1"/>
          <p:nvPr/>
        </p:nvSpPr>
        <p:spPr>
          <a:xfrm>
            <a:off x="3319510" y="3100751"/>
            <a:ext cx="11492801" cy="479425"/>
          </a:xfrm>
          <a:prstGeom prst="rect">
            <a:avLst/>
          </a:prstGeom>
        </p:spPr>
        <p:txBody>
          <a:bodyPr lIns="0" tIns="0" rIns="0" bIns="0" rtlCol="0" anchor="t">
            <a:spAutoFit/>
          </a:bodyPr>
          <a:lstStyle/>
          <a:p>
            <a:pPr marL="0" lvl="0" indent="0" algn="l">
              <a:lnSpc>
                <a:spcPts val="3500"/>
              </a:lnSpc>
              <a:spcBef>
                <a:spcPct val="0"/>
              </a:spcBef>
            </a:pPr>
            <a:r>
              <a:rPr lang="en-US" sz="2500" u="none">
                <a:solidFill>
                  <a:srgbClr val="F3F6FA"/>
                </a:solidFill>
                <a:latin typeface="Calibri (MS)"/>
                <a:ea typeface="Calibri (MS)"/>
                <a:cs typeface="Calibri (MS)"/>
                <a:sym typeface="Calibri (MS)"/>
              </a:rPr>
              <a:t>Tracks gas, temperature, humidity, and door activity in real time</a:t>
            </a:r>
          </a:p>
        </p:txBody>
      </p:sp>
      <p:sp>
        <p:nvSpPr>
          <p:cNvPr id="10" name="TextBox 10"/>
          <p:cNvSpPr txBox="1"/>
          <p:nvPr/>
        </p:nvSpPr>
        <p:spPr>
          <a:xfrm>
            <a:off x="1290982" y="3135676"/>
            <a:ext cx="476593" cy="514350"/>
          </a:xfrm>
          <a:prstGeom prst="rect">
            <a:avLst/>
          </a:prstGeom>
        </p:spPr>
        <p:txBody>
          <a:bodyPr lIns="0" tIns="0" rIns="0" bIns="0" rtlCol="0" anchor="t">
            <a:spAutoFit/>
          </a:bodyPr>
          <a:lstStyle/>
          <a:p>
            <a:pPr algn="ctr">
              <a:lnSpc>
                <a:spcPts val="4079"/>
              </a:lnSpc>
            </a:pPr>
            <a:r>
              <a:rPr lang="en-US" sz="3399" b="1" spc="-20">
                <a:solidFill>
                  <a:srgbClr val="F3F6FA"/>
                </a:solidFill>
                <a:latin typeface="TT Rounds Condensed Bold"/>
                <a:ea typeface="TT Rounds Condensed Bold"/>
                <a:cs typeface="TT Rounds Condensed Bold"/>
                <a:sym typeface="TT Rounds Condensed Bold"/>
              </a:rPr>
              <a:t>1</a:t>
            </a:r>
          </a:p>
        </p:txBody>
      </p:sp>
      <p:sp>
        <p:nvSpPr>
          <p:cNvPr id="11" name="TextBox 11"/>
          <p:cNvSpPr txBox="1"/>
          <p:nvPr/>
        </p:nvSpPr>
        <p:spPr>
          <a:xfrm>
            <a:off x="3319510" y="4632784"/>
            <a:ext cx="11492801" cy="479425"/>
          </a:xfrm>
          <a:prstGeom prst="rect">
            <a:avLst/>
          </a:prstGeom>
        </p:spPr>
        <p:txBody>
          <a:bodyPr lIns="0" tIns="0" rIns="0" bIns="0" rtlCol="0" anchor="t">
            <a:spAutoFit/>
          </a:bodyPr>
          <a:lstStyle/>
          <a:p>
            <a:pPr marL="0" lvl="0" indent="0" algn="l">
              <a:lnSpc>
                <a:spcPts val="3500"/>
              </a:lnSpc>
              <a:spcBef>
                <a:spcPct val="0"/>
              </a:spcBef>
            </a:pPr>
            <a:r>
              <a:rPr lang="en-US" sz="2500" u="none">
                <a:solidFill>
                  <a:srgbClr val="F3F6FA"/>
                </a:solidFill>
                <a:latin typeface="Calibri (MS)"/>
                <a:ea typeface="Calibri (MS)"/>
                <a:cs typeface="Calibri (MS)"/>
                <a:sym typeface="Calibri (MS)"/>
              </a:rPr>
              <a:t>Highlights high gas levels and potential spoilage risks</a:t>
            </a:r>
          </a:p>
        </p:txBody>
      </p:sp>
      <p:sp>
        <p:nvSpPr>
          <p:cNvPr id="12" name="Freeform 12"/>
          <p:cNvSpPr/>
          <p:nvPr/>
        </p:nvSpPr>
        <p:spPr>
          <a:xfrm>
            <a:off x="1028700" y="4424305"/>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TextBox 13"/>
          <p:cNvSpPr txBox="1"/>
          <p:nvPr/>
        </p:nvSpPr>
        <p:spPr>
          <a:xfrm>
            <a:off x="1277739" y="4667709"/>
            <a:ext cx="476593" cy="514350"/>
          </a:xfrm>
          <a:prstGeom prst="rect">
            <a:avLst/>
          </a:prstGeom>
        </p:spPr>
        <p:txBody>
          <a:bodyPr lIns="0" tIns="0" rIns="0" bIns="0" rtlCol="0" anchor="t">
            <a:spAutoFit/>
          </a:bodyPr>
          <a:lstStyle/>
          <a:p>
            <a:pPr algn="ctr">
              <a:lnSpc>
                <a:spcPts val="4079"/>
              </a:lnSpc>
            </a:pPr>
            <a:r>
              <a:rPr lang="en-US" sz="3399" b="1" spc="-20">
                <a:solidFill>
                  <a:srgbClr val="F3F6FA"/>
                </a:solidFill>
                <a:latin typeface="TT Rounds Condensed Bold"/>
                <a:ea typeface="TT Rounds Condensed Bold"/>
                <a:cs typeface="TT Rounds Condensed Bold"/>
                <a:sym typeface="TT Rounds Condensed Bold"/>
              </a:rPr>
              <a:t>2</a:t>
            </a:r>
          </a:p>
        </p:txBody>
      </p:sp>
      <p:sp>
        <p:nvSpPr>
          <p:cNvPr id="14" name="TextBox 14"/>
          <p:cNvSpPr txBox="1"/>
          <p:nvPr/>
        </p:nvSpPr>
        <p:spPr>
          <a:xfrm>
            <a:off x="3319510" y="6164817"/>
            <a:ext cx="11492801" cy="479425"/>
          </a:xfrm>
          <a:prstGeom prst="rect">
            <a:avLst/>
          </a:prstGeom>
        </p:spPr>
        <p:txBody>
          <a:bodyPr lIns="0" tIns="0" rIns="0" bIns="0" rtlCol="0" anchor="t">
            <a:spAutoFit/>
          </a:bodyPr>
          <a:lstStyle/>
          <a:p>
            <a:pPr marL="0" lvl="0" indent="0" algn="l">
              <a:lnSpc>
                <a:spcPts val="3500"/>
              </a:lnSpc>
              <a:spcBef>
                <a:spcPct val="0"/>
              </a:spcBef>
            </a:pPr>
            <a:r>
              <a:rPr lang="en-US" sz="2500" u="none">
                <a:solidFill>
                  <a:srgbClr val="F3F6FA"/>
                </a:solidFill>
                <a:latin typeface="Calibri (MS)"/>
                <a:ea typeface="Calibri (MS)"/>
                <a:cs typeface="Calibri (MS)"/>
                <a:sym typeface="Calibri (MS)"/>
              </a:rPr>
              <a:t>Shows trends to identify unusual spikes and unsafe conditions</a:t>
            </a:r>
          </a:p>
        </p:txBody>
      </p:sp>
      <p:sp>
        <p:nvSpPr>
          <p:cNvPr id="15" name="Freeform 15"/>
          <p:cNvSpPr/>
          <p:nvPr/>
        </p:nvSpPr>
        <p:spPr>
          <a:xfrm>
            <a:off x="1015456" y="5956338"/>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6" name="TextBox 16"/>
          <p:cNvSpPr txBox="1"/>
          <p:nvPr/>
        </p:nvSpPr>
        <p:spPr>
          <a:xfrm>
            <a:off x="1277739" y="6199742"/>
            <a:ext cx="476593" cy="514350"/>
          </a:xfrm>
          <a:prstGeom prst="rect">
            <a:avLst/>
          </a:prstGeom>
        </p:spPr>
        <p:txBody>
          <a:bodyPr lIns="0" tIns="0" rIns="0" bIns="0" rtlCol="0" anchor="t">
            <a:spAutoFit/>
          </a:bodyPr>
          <a:lstStyle/>
          <a:p>
            <a:pPr algn="ctr">
              <a:lnSpc>
                <a:spcPts val="4079"/>
              </a:lnSpc>
            </a:pPr>
            <a:r>
              <a:rPr lang="en-US" sz="3399" b="1" spc="-20">
                <a:solidFill>
                  <a:srgbClr val="F3F6FA"/>
                </a:solidFill>
                <a:latin typeface="TT Rounds Condensed Bold"/>
                <a:ea typeface="TT Rounds Condensed Bold"/>
                <a:cs typeface="TT Rounds Condensed Bold"/>
                <a:sym typeface="TT Rounds Condensed Bold"/>
              </a:rPr>
              <a:t>3</a:t>
            </a:r>
          </a:p>
        </p:txBody>
      </p:sp>
      <p:sp>
        <p:nvSpPr>
          <p:cNvPr id="17" name="TextBox 17"/>
          <p:cNvSpPr txBox="1"/>
          <p:nvPr/>
        </p:nvSpPr>
        <p:spPr>
          <a:xfrm>
            <a:off x="3319510" y="7696850"/>
            <a:ext cx="11492801" cy="479425"/>
          </a:xfrm>
          <a:prstGeom prst="rect">
            <a:avLst/>
          </a:prstGeom>
        </p:spPr>
        <p:txBody>
          <a:bodyPr lIns="0" tIns="0" rIns="0" bIns="0" rtlCol="0" anchor="t">
            <a:spAutoFit/>
          </a:bodyPr>
          <a:lstStyle/>
          <a:p>
            <a:pPr marL="0" lvl="0" indent="0" algn="l">
              <a:lnSpc>
                <a:spcPts val="3500"/>
              </a:lnSpc>
              <a:spcBef>
                <a:spcPct val="0"/>
              </a:spcBef>
            </a:pPr>
            <a:r>
              <a:rPr lang="en-US" sz="2500" u="none">
                <a:solidFill>
                  <a:srgbClr val="F3F6FA"/>
                </a:solidFill>
                <a:latin typeface="Calibri (MS)"/>
                <a:ea typeface="Calibri (MS)"/>
                <a:cs typeface="Calibri (MS)"/>
                <a:sym typeface="Calibri (MS)"/>
              </a:rPr>
              <a:t>23.76% spoilage rate with most readings still marked safe</a:t>
            </a:r>
          </a:p>
        </p:txBody>
      </p:sp>
      <p:sp>
        <p:nvSpPr>
          <p:cNvPr id="18" name="Freeform 18"/>
          <p:cNvSpPr/>
          <p:nvPr/>
        </p:nvSpPr>
        <p:spPr>
          <a:xfrm>
            <a:off x="1028700" y="7488371"/>
            <a:ext cx="1001158" cy="1001158"/>
          </a:xfrm>
          <a:custGeom>
            <a:avLst/>
            <a:gdLst/>
            <a:ahLst/>
            <a:cxnLst/>
            <a:rect l="l" t="t" r="r" b="b"/>
            <a:pathLst>
              <a:path w="1001158" h="1001158">
                <a:moveTo>
                  <a:pt x="0" y="0"/>
                </a:moveTo>
                <a:lnTo>
                  <a:pt x="1001158" y="0"/>
                </a:lnTo>
                <a:lnTo>
                  <a:pt x="1001158" y="1001158"/>
                </a:lnTo>
                <a:lnTo>
                  <a:pt x="0" y="100115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9" name="TextBox 19"/>
          <p:cNvSpPr txBox="1"/>
          <p:nvPr/>
        </p:nvSpPr>
        <p:spPr>
          <a:xfrm>
            <a:off x="1277739" y="7731775"/>
            <a:ext cx="476593" cy="514350"/>
          </a:xfrm>
          <a:prstGeom prst="rect">
            <a:avLst/>
          </a:prstGeom>
        </p:spPr>
        <p:txBody>
          <a:bodyPr lIns="0" tIns="0" rIns="0" bIns="0" rtlCol="0" anchor="t">
            <a:spAutoFit/>
          </a:bodyPr>
          <a:lstStyle/>
          <a:p>
            <a:pPr algn="ctr">
              <a:lnSpc>
                <a:spcPts val="4079"/>
              </a:lnSpc>
            </a:pPr>
            <a:r>
              <a:rPr lang="en-US" sz="3399" b="1" spc="-20">
                <a:solidFill>
                  <a:srgbClr val="F3F6FA"/>
                </a:solidFill>
                <a:latin typeface="TT Rounds Condensed Bold"/>
                <a:ea typeface="TT Rounds Condensed Bold"/>
                <a:cs typeface="TT Rounds Condensed Bold"/>
                <a:sym typeface="TT Rounds Condensed Bold"/>
              </a:rPr>
              <a:t>4</a:t>
            </a:r>
          </a:p>
        </p:txBody>
      </p:sp>
      <p:sp>
        <p:nvSpPr>
          <p:cNvPr id="20" name="TextBox 20"/>
          <p:cNvSpPr txBox="1"/>
          <p:nvPr/>
        </p:nvSpPr>
        <p:spPr>
          <a:xfrm>
            <a:off x="3319510" y="9228884"/>
            <a:ext cx="11492801" cy="479425"/>
          </a:xfrm>
          <a:prstGeom prst="rect">
            <a:avLst/>
          </a:prstGeom>
        </p:spPr>
        <p:txBody>
          <a:bodyPr lIns="0" tIns="0" rIns="0" bIns="0" rtlCol="0" anchor="t">
            <a:spAutoFit/>
          </a:bodyPr>
          <a:lstStyle/>
          <a:p>
            <a:pPr marL="0" lvl="0" indent="0" algn="l">
              <a:lnSpc>
                <a:spcPts val="3500"/>
              </a:lnSpc>
              <a:spcBef>
                <a:spcPct val="0"/>
              </a:spcBef>
            </a:pPr>
            <a:r>
              <a:rPr lang="en-US" sz="2500" u="none">
                <a:solidFill>
                  <a:srgbClr val="F3F6FA"/>
                </a:solidFill>
                <a:latin typeface="Calibri (MS)"/>
                <a:ea typeface="Calibri (MS)"/>
                <a:cs typeface="Calibri (MS)"/>
                <a:sym typeface="Calibri (MS)"/>
              </a:rPr>
              <a:t>Uses predictions (Safe / At Risk) to support early action</a:t>
            </a:r>
          </a:p>
        </p:txBody>
      </p:sp>
      <p:sp>
        <p:nvSpPr>
          <p:cNvPr id="21" name="Freeform 21"/>
          <p:cNvSpPr/>
          <p:nvPr/>
        </p:nvSpPr>
        <p:spPr>
          <a:xfrm>
            <a:off x="1028700" y="9020405"/>
            <a:ext cx="1001158" cy="1001158"/>
          </a:xfrm>
          <a:custGeom>
            <a:avLst/>
            <a:gdLst/>
            <a:ahLst/>
            <a:cxnLst/>
            <a:rect l="l" t="t" r="r" b="b"/>
            <a:pathLst>
              <a:path w="1001158" h="1001158">
                <a:moveTo>
                  <a:pt x="0" y="0"/>
                </a:moveTo>
                <a:lnTo>
                  <a:pt x="1001158" y="0"/>
                </a:lnTo>
                <a:lnTo>
                  <a:pt x="1001158" y="1001157"/>
                </a:lnTo>
                <a:lnTo>
                  <a:pt x="0" y="10011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2" name="TextBox 22"/>
          <p:cNvSpPr txBox="1"/>
          <p:nvPr/>
        </p:nvSpPr>
        <p:spPr>
          <a:xfrm>
            <a:off x="1277739" y="9263808"/>
            <a:ext cx="476593" cy="514350"/>
          </a:xfrm>
          <a:prstGeom prst="rect">
            <a:avLst/>
          </a:prstGeom>
        </p:spPr>
        <p:txBody>
          <a:bodyPr lIns="0" tIns="0" rIns="0" bIns="0" rtlCol="0" anchor="t">
            <a:spAutoFit/>
          </a:bodyPr>
          <a:lstStyle/>
          <a:p>
            <a:pPr algn="ctr">
              <a:lnSpc>
                <a:spcPts val="4079"/>
              </a:lnSpc>
            </a:pPr>
            <a:r>
              <a:rPr lang="en-US" sz="3399" b="1" spc="-20">
                <a:solidFill>
                  <a:srgbClr val="F3F6FA"/>
                </a:solidFill>
                <a:latin typeface="TT Rounds Condensed Bold"/>
                <a:ea typeface="TT Rounds Condensed Bold"/>
                <a:cs typeface="TT Rounds Condensed Bold"/>
                <a:sym typeface="TT Rounds Condensed Bold"/>
              </a:rPr>
              <a:t>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TextBox 2"/>
          <p:cNvSpPr txBox="1"/>
          <p:nvPr/>
        </p:nvSpPr>
        <p:spPr>
          <a:xfrm>
            <a:off x="3065226" y="4583430"/>
            <a:ext cx="12157547" cy="1291590"/>
          </a:xfrm>
          <a:prstGeom prst="rect">
            <a:avLst/>
          </a:prstGeom>
        </p:spPr>
        <p:txBody>
          <a:bodyPr lIns="0" tIns="0" rIns="0" bIns="0" rtlCol="0" anchor="t">
            <a:spAutoFit/>
          </a:bodyPr>
          <a:lstStyle/>
          <a:p>
            <a:pPr marL="0" lvl="0" indent="0" algn="ctr">
              <a:lnSpc>
                <a:spcPts val="9600"/>
              </a:lnSpc>
              <a:spcBef>
                <a:spcPct val="0"/>
              </a:spcBef>
            </a:pPr>
            <a:r>
              <a:rPr lang="en-US" sz="9600" b="1" u="none" spc="-58">
                <a:solidFill>
                  <a:srgbClr val="FFFFFF"/>
                </a:solidFill>
                <a:latin typeface="TT Rounds Condensed Bold"/>
                <a:ea typeface="TT Rounds Condensed Bold"/>
                <a:cs typeface="TT Rounds Condensed Bold"/>
                <a:sym typeface="TT Rounds Condens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737</Words>
  <Application>Microsoft Office PowerPoint</Application>
  <PresentationFormat>Custom</PresentationFormat>
  <Paragraphs>96</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Radley</vt:lpstr>
      <vt:lpstr>Calibri (MS) Bold</vt:lpstr>
      <vt:lpstr>Calibri</vt:lpstr>
      <vt:lpstr>TT Rounds Condensed</vt:lpstr>
      <vt:lpstr>Arsenal</vt:lpstr>
      <vt:lpstr>TT Rounds Condensed Bold</vt:lpstr>
      <vt:lpstr>Arial</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COLD (2).pptx</dc:title>
  <dc:creator>Stia Rose</dc:creator>
  <cp:lastModifiedBy>Stia Rose</cp:lastModifiedBy>
  <cp:revision>1</cp:revision>
  <dcterms:created xsi:type="dcterms:W3CDTF">2006-08-16T00:00:00Z</dcterms:created>
  <dcterms:modified xsi:type="dcterms:W3CDTF">2026-04-10T11:03:01Z</dcterms:modified>
  <dc:identifier>DAHGYMfQXFY</dc:identifier>
</cp:coreProperties>
</file>